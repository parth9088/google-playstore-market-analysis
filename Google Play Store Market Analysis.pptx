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oppins Bold" charset="1" panose="00000800000000000000"/>
      <p:regular r:id="rId17"/>
    </p:embeddedFont>
    <p:embeddedFont>
      <p:font typeface="Poppins" charset="1" panose="00000500000000000000"/>
      <p:regular r:id="rId18"/>
    </p:embeddedFont>
    <p:embeddedFont>
      <p:font typeface="Bricolage Grotesque" charset="1" panose="020B0605040402000204"/>
      <p:regular r:id="rId19"/>
    </p:embeddedFont>
    <p:embeddedFont>
      <p:font typeface="Bricolage Grotesque Bold" charset="1" panose="020B0605040402000204"/>
      <p:regular r:id="rId20"/>
    </p:embeddedFont>
    <p:embeddedFont>
      <p:font typeface="Canva Sans Bold" charset="1" panose="020B08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4.png" Type="http://schemas.openxmlformats.org/officeDocument/2006/relationships/image"/><Relationship Id="rId5"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415882" cy="10287000"/>
            <a:chOff x="0" y="0"/>
            <a:chExt cx="636282" cy="2709333"/>
          </a:xfrm>
        </p:grpSpPr>
        <p:sp>
          <p:nvSpPr>
            <p:cNvPr name="Freeform 3" id="3"/>
            <p:cNvSpPr/>
            <p:nvPr/>
          </p:nvSpPr>
          <p:spPr>
            <a:xfrm flipH="false" flipV="false" rot="0">
              <a:off x="0" y="0"/>
              <a:ext cx="636282" cy="2709333"/>
            </a:xfrm>
            <a:custGeom>
              <a:avLst/>
              <a:gdLst/>
              <a:ahLst/>
              <a:cxnLst/>
              <a:rect r="r" b="b" t="t" l="l"/>
              <a:pathLst>
                <a:path h="2709333" w="636282">
                  <a:moveTo>
                    <a:pt x="0" y="0"/>
                  </a:moveTo>
                  <a:lnTo>
                    <a:pt x="636282" y="0"/>
                  </a:lnTo>
                  <a:lnTo>
                    <a:pt x="636282" y="2709333"/>
                  </a:lnTo>
                  <a:lnTo>
                    <a:pt x="0" y="2709333"/>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636282"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9147051" y="-5473492"/>
            <a:ext cx="10410990" cy="21085550"/>
          </a:xfrm>
          <a:custGeom>
            <a:avLst/>
            <a:gdLst/>
            <a:ahLst/>
            <a:cxnLst/>
            <a:rect r="r" b="b" t="t" l="l"/>
            <a:pathLst>
              <a:path h="21085550" w="10410990">
                <a:moveTo>
                  <a:pt x="0" y="0"/>
                </a:moveTo>
                <a:lnTo>
                  <a:pt x="10410990" y="0"/>
                </a:lnTo>
                <a:lnTo>
                  <a:pt x="10410990" y="21085550"/>
                </a:lnTo>
                <a:lnTo>
                  <a:pt x="0" y="21085550"/>
                </a:lnTo>
                <a:lnTo>
                  <a:pt x="0" y="0"/>
                </a:lnTo>
                <a:close/>
              </a:path>
            </a:pathLst>
          </a:custGeom>
          <a:blipFill>
            <a:blip r:embed="rId2"/>
            <a:stretch>
              <a:fillRect l="0" t="0" r="0" b="0"/>
            </a:stretch>
          </a:blipFill>
        </p:spPr>
      </p:sp>
      <p:sp>
        <p:nvSpPr>
          <p:cNvPr name="Freeform 6" id="6"/>
          <p:cNvSpPr/>
          <p:nvPr/>
        </p:nvSpPr>
        <p:spPr>
          <a:xfrm flipH="false" flipV="false" rot="0">
            <a:off x="839956" y="1028700"/>
            <a:ext cx="735971" cy="710546"/>
          </a:xfrm>
          <a:custGeom>
            <a:avLst/>
            <a:gdLst/>
            <a:ahLst/>
            <a:cxnLst/>
            <a:rect r="r" b="b" t="t" l="l"/>
            <a:pathLst>
              <a:path h="710546" w="735971">
                <a:moveTo>
                  <a:pt x="0" y="0"/>
                </a:moveTo>
                <a:lnTo>
                  <a:pt x="735970" y="0"/>
                </a:lnTo>
                <a:lnTo>
                  <a:pt x="735970" y="710546"/>
                </a:lnTo>
                <a:lnTo>
                  <a:pt x="0" y="7105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3320099" y="7265408"/>
            <a:ext cx="2392710" cy="2559665"/>
            <a:chOff x="0" y="0"/>
            <a:chExt cx="3190280" cy="3412886"/>
          </a:xfrm>
        </p:grpSpPr>
        <p:sp>
          <p:nvSpPr>
            <p:cNvPr name="TextBox 8" id="8"/>
            <p:cNvSpPr txBox="true"/>
            <p:nvPr/>
          </p:nvSpPr>
          <p:spPr>
            <a:xfrm rot="0">
              <a:off x="0" y="47625"/>
              <a:ext cx="2749098" cy="356927"/>
            </a:xfrm>
            <a:prstGeom prst="rect">
              <a:avLst/>
            </a:prstGeom>
          </p:spPr>
          <p:txBody>
            <a:bodyPr anchor="t" rtlCol="false" tIns="0" lIns="0" bIns="0" rIns="0">
              <a:spAutoFit/>
            </a:bodyPr>
            <a:lstStyle/>
            <a:p>
              <a:pPr algn="l" marL="0" indent="0" lvl="0">
                <a:lnSpc>
                  <a:spcPts val="1773"/>
                </a:lnSpc>
              </a:pPr>
              <a:r>
                <a:rPr lang="en-US" b="true" sz="2038">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PREPARED BY</a:t>
              </a:r>
            </a:p>
          </p:txBody>
        </p:sp>
        <p:sp>
          <p:nvSpPr>
            <p:cNvPr name="TextBox 9" id="9"/>
            <p:cNvSpPr txBox="true"/>
            <p:nvPr/>
          </p:nvSpPr>
          <p:spPr>
            <a:xfrm rot="0">
              <a:off x="0" y="527145"/>
              <a:ext cx="3190280" cy="267909"/>
            </a:xfrm>
            <a:prstGeom prst="rect">
              <a:avLst/>
            </a:prstGeom>
          </p:spPr>
          <p:txBody>
            <a:bodyPr anchor="t" rtlCol="false" tIns="0" lIns="0" bIns="0" rIns="0">
              <a:spAutoFit/>
            </a:bodyPr>
            <a:lstStyle/>
            <a:p>
              <a:pPr algn="l" marL="0" indent="0" lvl="0">
                <a:lnSpc>
                  <a:spcPts val="1370"/>
                </a:lnSpc>
              </a:pPr>
              <a:r>
                <a:rPr lang="en-US" sz="157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Parth Soni</a:t>
              </a:r>
            </a:p>
          </p:txBody>
        </p:sp>
        <p:sp>
          <p:nvSpPr>
            <p:cNvPr name="TextBox 10" id="10"/>
            <p:cNvSpPr txBox="true"/>
            <p:nvPr/>
          </p:nvSpPr>
          <p:spPr>
            <a:xfrm rot="0">
              <a:off x="0" y="1323462"/>
              <a:ext cx="2749098" cy="356927"/>
            </a:xfrm>
            <a:prstGeom prst="rect">
              <a:avLst/>
            </a:prstGeom>
          </p:spPr>
          <p:txBody>
            <a:bodyPr anchor="t" rtlCol="false" tIns="0" lIns="0" bIns="0" rIns="0">
              <a:spAutoFit/>
            </a:bodyPr>
            <a:lstStyle/>
            <a:p>
              <a:pPr algn="l" marL="0" indent="0" lvl="0">
                <a:lnSpc>
                  <a:spcPts val="1773"/>
                </a:lnSpc>
              </a:pPr>
              <a:r>
                <a:rPr lang="en-US" b="true" sz="2038">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TECHNOLOGIES</a:t>
              </a:r>
            </a:p>
          </p:txBody>
        </p:sp>
        <p:sp>
          <p:nvSpPr>
            <p:cNvPr name="TextBox 11" id="11"/>
            <p:cNvSpPr txBox="true"/>
            <p:nvPr/>
          </p:nvSpPr>
          <p:spPr>
            <a:xfrm rot="0">
              <a:off x="0" y="1778391"/>
              <a:ext cx="3190280" cy="1634495"/>
            </a:xfrm>
            <a:prstGeom prst="rect">
              <a:avLst/>
            </a:prstGeom>
          </p:spPr>
          <p:txBody>
            <a:bodyPr anchor="t" rtlCol="false" tIns="0" lIns="0" bIns="0" rIns="0">
              <a:spAutoFit/>
            </a:bodyPr>
            <a:lstStyle/>
            <a:p>
              <a:pPr algn="l" marL="340075" indent="-170037" lvl="1">
                <a:lnSpc>
                  <a:spcPts val="1575"/>
                </a:lnSpc>
                <a:buFont typeface="Arial"/>
                <a:buChar char="•"/>
              </a:pPr>
              <a:r>
                <a:rPr lang="en-US" sz="157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Python </a:t>
              </a:r>
            </a:p>
            <a:p>
              <a:pPr algn="l" marL="340075" indent="-170037" lvl="1">
                <a:lnSpc>
                  <a:spcPts val="1575"/>
                </a:lnSpc>
                <a:buFont typeface="Arial"/>
                <a:buChar char="•"/>
              </a:pPr>
              <a:r>
                <a:rPr lang="en-US" sz="157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PostgreSQL </a:t>
              </a:r>
            </a:p>
            <a:p>
              <a:pPr algn="l" marL="340075" indent="-170037" lvl="1">
                <a:lnSpc>
                  <a:spcPts val="1575"/>
                </a:lnSpc>
                <a:buFont typeface="Arial"/>
                <a:buChar char="•"/>
              </a:pPr>
              <a:r>
                <a:rPr lang="en-US" sz="157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SQL</a:t>
              </a:r>
            </a:p>
            <a:p>
              <a:pPr algn="l" marL="340075" indent="-170037" lvl="1">
                <a:lnSpc>
                  <a:spcPts val="1575"/>
                </a:lnSpc>
                <a:buFont typeface="Arial"/>
                <a:buChar char="•"/>
              </a:pPr>
              <a:r>
                <a:rPr lang="en-US" sz="157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Power BI</a:t>
              </a:r>
            </a:p>
            <a:p>
              <a:pPr algn="l" marL="340075" indent="-170037" lvl="1">
                <a:lnSpc>
                  <a:spcPts val="1575"/>
                </a:lnSpc>
                <a:buFont typeface="Arial"/>
                <a:buChar char="•"/>
              </a:pPr>
              <a:r>
                <a:rPr lang="en-US" sz="157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Git</a:t>
              </a:r>
            </a:p>
            <a:p>
              <a:pPr algn="l" marL="340075" indent="-170037" lvl="1">
                <a:lnSpc>
                  <a:spcPts val="1575"/>
                </a:lnSpc>
                <a:buFont typeface="Arial"/>
                <a:buChar char="•"/>
              </a:pPr>
              <a:r>
                <a:rPr lang="en-US" sz="157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GItHub</a:t>
              </a:r>
            </a:p>
          </p:txBody>
        </p:sp>
      </p:grpSp>
      <p:sp>
        <p:nvSpPr>
          <p:cNvPr name="TextBox 12" id="12"/>
          <p:cNvSpPr txBox="true"/>
          <p:nvPr/>
        </p:nvSpPr>
        <p:spPr>
          <a:xfrm rot="0">
            <a:off x="3320099" y="980112"/>
            <a:ext cx="5996813" cy="4239403"/>
          </a:xfrm>
          <a:prstGeom prst="rect">
            <a:avLst/>
          </a:prstGeom>
        </p:spPr>
        <p:txBody>
          <a:bodyPr anchor="t" rtlCol="false" tIns="0" lIns="0" bIns="0" rIns="0">
            <a:spAutoFit/>
          </a:bodyPr>
          <a:lstStyle/>
          <a:p>
            <a:pPr algn="l" marL="0" indent="0" lvl="0">
              <a:lnSpc>
                <a:spcPts val="10983"/>
              </a:lnSpc>
            </a:pPr>
            <a:r>
              <a:rPr lang="en-US" sz="11207" spc="-71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Google</a:t>
            </a:r>
          </a:p>
          <a:p>
            <a:pPr algn="l" marL="0" indent="0" lvl="0">
              <a:lnSpc>
                <a:spcPts val="10983"/>
              </a:lnSpc>
            </a:pPr>
            <a:r>
              <a:rPr lang="en-US" sz="11207" spc="-71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Play Store</a:t>
            </a:r>
          </a:p>
          <a:p>
            <a:pPr algn="l" marL="0" indent="0" lvl="0">
              <a:lnSpc>
                <a:spcPts val="10983"/>
              </a:lnSpc>
            </a:pPr>
            <a:r>
              <a:rPr lang="en-US" sz="11207" spc="-71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Analysis</a:t>
            </a:r>
          </a:p>
        </p:txBody>
      </p:sp>
      <p:sp>
        <p:nvSpPr>
          <p:cNvPr name="TextBox 13" id="13"/>
          <p:cNvSpPr txBox="true"/>
          <p:nvPr/>
        </p:nvSpPr>
        <p:spPr>
          <a:xfrm rot="0">
            <a:off x="3320099" y="5850441"/>
            <a:ext cx="5696631" cy="820939"/>
          </a:xfrm>
          <a:prstGeom prst="rect">
            <a:avLst/>
          </a:prstGeom>
        </p:spPr>
        <p:txBody>
          <a:bodyPr anchor="t" rtlCol="false" tIns="0" lIns="0" bIns="0" rIns="0">
            <a:spAutoFit/>
          </a:bodyPr>
          <a:lstStyle/>
          <a:p>
            <a:pPr algn="just" marL="0" indent="0" lvl="0">
              <a:lnSpc>
                <a:spcPts val="2174"/>
              </a:lnSpc>
            </a:pPr>
            <a:r>
              <a:rPr lang="en-US" sz="1698" spc="-5">
                <a:solidFill>
                  <a:srgbClr val="3A58E4"/>
                </a:solidFill>
                <a:latin typeface="Poppins"/>
                <a:ea typeface="Poppins"/>
                <a:cs typeface="Poppins"/>
                <a:sym typeface="Poppins"/>
              </a:rPr>
              <a:t>End-to-End Data Analytics Project transforming marketplace data into actionable business intelligence.</a:t>
            </a:r>
          </a:p>
        </p:txBody>
      </p:sp>
      <p:sp>
        <p:nvSpPr>
          <p:cNvPr name="TextBox 14" id="14"/>
          <p:cNvSpPr txBox="true"/>
          <p:nvPr/>
        </p:nvSpPr>
        <p:spPr>
          <a:xfrm rot="0">
            <a:off x="350972" y="1978357"/>
            <a:ext cx="1704171" cy="311629"/>
          </a:xfrm>
          <a:prstGeom prst="rect">
            <a:avLst/>
          </a:prstGeom>
        </p:spPr>
        <p:txBody>
          <a:bodyPr anchor="t" rtlCol="false" tIns="0" lIns="0" bIns="0" rIns="0">
            <a:spAutoFit/>
          </a:bodyPr>
          <a:lstStyle/>
          <a:p>
            <a:pPr algn="ctr" marL="0" indent="0" lvl="0">
              <a:lnSpc>
                <a:spcPts val="2294"/>
              </a:lnSpc>
            </a:pPr>
            <a:r>
              <a:rPr lang="en-US" b="true" sz="2144">
                <a:solidFill>
                  <a:srgbClr val="FFFFFF"/>
                </a:solidFill>
                <a:latin typeface="Poppins Bold"/>
                <a:ea typeface="Poppins Bold"/>
                <a:cs typeface="Poppins Bold"/>
                <a:sym typeface="Poppins Bold"/>
              </a:rPr>
              <a:t>Market</a:t>
            </a:r>
          </a:p>
        </p:txBody>
      </p:sp>
      <p:sp>
        <p:nvSpPr>
          <p:cNvPr name="TextBox 15" id="15"/>
          <p:cNvSpPr txBox="true"/>
          <p:nvPr/>
        </p:nvSpPr>
        <p:spPr>
          <a:xfrm rot="0">
            <a:off x="360740" y="2320516"/>
            <a:ext cx="1704171" cy="236909"/>
          </a:xfrm>
          <a:prstGeom prst="rect">
            <a:avLst/>
          </a:prstGeom>
        </p:spPr>
        <p:txBody>
          <a:bodyPr anchor="t" rtlCol="false" tIns="0" lIns="0" bIns="0" rIns="0">
            <a:spAutoFit/>
          </a:bodyPr>
          <a:lstStyle/>
          <a:p>
            <a:pPr algn="ctr" marL="0" indent="0" lvl="0">
              <a:lnSpc>
                <a:spcPts val="1773"/>
              </a:lnSpc>
            </a:pPr>
            <a:r>
              <a:rPr lang="en-US" sz="1657">
                <a:solidFill>
                  <a:srgbClr val="FFFFFF"/>
                </a:solidFill>
                <a:latin typeface="Poppins"/>
                <a:ea typeface="Poppins"/>
                <a:cs typeface="Poppins"/>
                <a:sym typeface="Poppins"/>
              </a:rPr>
              <a:t>Analysis</a:t>
            </a:r>
          </a:p>
        </p:txBody>
      </p:sp>
      <p:grpSp>
        <p:nvGrpSpPr>
          <p:cNvPr name="Group 16" id="16"/>
          <p:cNvGrpSpPr/>
          <p:nvPr/>
        </p:nvGrpSpPr>
        <p:grpSpPr>
          <a:xfrm rot="0">
            <a:off x="360740" y="8287049"/>
            <a:ext cx="1713939" cy="567588"/>
            <a:chOff x="0" y="0"/>
            <a:chExt cx="2285252" cy="756784"/>
          </a:xfrm>
        </p:grpSpPr>
        <p:sp>
          <p:nvSpPr>
            <p:cNvPr name="TextBox 17" id="17"/>
            <p:cNvSpPr txBox="true"/>
            <p:nvPr/>
          </p:nvSpPr>
          <p:spPr>
            <a:xfrm rot="0">
              <a:off x="0" y="9525"/>
              <a:ext cx="2272228" cy="418680"/>
            </a:xfrm>
            <a:prstGeom prst="rect">
              <a:avLst/>
            </a:prstGeom>
          </p:spPr>
          <p:txBody>
            <a:bodyPr anchor="t" rtlCol="false" tIns="0" lIns="0" bIns="0" rIns="0">
              <a:spAutoFit/>
            </a:bodyPr>
            <a:lstStyle/>
            <a:p>
              <a:pPr algn="ctr" marL="0" indent="0" lvl="0">
                <a:lnSpc>
                  <a:spcPts val="2294"/>
                </a:lnSpc>
              </a:pPr>
              <a:r>
                <a:rPr lang="en-US" b="true" sz="2144">
                  <a:solidFill>
                    <a:srgbClr val="FFFFFF"/>
                  </a:solidFill>
                  <a:latin typeface="Poppins Bold"/>
                  <a:ea typeface="Poppins Bold"/>
                  <a:cs typeface="Poppins Bold"/>
                  <a:sym typeface="Poppins Bold"/>
                </a:rPr>
                <a:t>2026</a:t>
              </a:r>
            </a:p>
          </p:txBody>
        </p:sp>
        <p:sp>
          <p:nvSpPr>
            <p:cNvPr name="TextBox 18" id="18"/>
            <p:cNvSpPr txBox="true"/>
            <p:nvPr/>
          </p:nvSpPr>
          <p:spPr>
            <a:xfrm rot="0">
              <a:off x="13024" y="437730"/>
              <a:ext cx="2272228" cy="319054"/>
            </a:xfrm>
            <a:prstGeom prst="rect">
              <a:avLst/>
            </a:prstGeom>
          </p:spPr>
          <p:txBody>
            <a:bodyPr anchor="t" rtlCol="false" tIns="0" lIns="0" bIns="0" rIns="0">
              <a:spAutoFit/>
            </a:bodyPr>
            <a:lstStyle/>
            <a:p>
              <a:pPr algn="ctr" marL="0" indent="0" lvl="0">
                <a:lnSpc>
                  <a:spcPts val="1773"/>
                </a:lnSpc>
              </a:pPr>
              <a:r>
                <a:rPr lang="en-US" sz="1657">
                  <a:solidFill>
                    <a:srgbClr val="FFFFFF"/>
                  </a:solidFill>
                  <a:latin typeface="Poppins"/>
                  <a:ea typeface="Poppins"/>
                  <a:cs typeface="Poppins"/>
                  <a:sym typeface="Poppins"/>
                </a:rPr>
                <a:t>Edition</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222339"/>
            <a:ext cx="1849954" cy="1625827"/>
            <a:chOff x="0" y="0"/>
            <a:chExt cx="2466605" cy="2167769"/>
          </a:xfrm>
        </p:grpSpPr>
        <p:grpSp>
          <p:nvGrpSpPr>
            <p:cNvPr name="Group 3" id="3"/>
            <p:cNvGrpSpPr/>
            <p:nvPr/>
          </p:nvGrpSpPr>
          <p:grpSpPr>
            <a:xfrm rot="0">
              <a:off x="0" y="0"/>
              <a:ext cx="2466605" cy="2167769"/>
              <a:chOff x="0" y="0"/>
              <a:chExt cx="787566" cy="692150"/>
            </a:xfrm>
          </p:grpSpPr>
          <p:sp>
            <p:nvSpPr>
              <p:cNvPr name="Freeform 4" id="4"/>
              <p:cNvSpPr/>
              <p:nvPr/>
            </p:nvSpPr>
            <p:spPr>
              <a:xfrm flipH="false" flipV="false" rot="0">
                <a:off x="0" y="0"/>
                <a:ext cx="787566" cy="692150"/>
              </a:xfrm>
              <a:custGeom>
                <a:avLst/>
                <a:gdLst/>
                <a:ahLst/>
                <a:cxnLst/>
                <a:rect r="r" b="b" t="t" l="l"/>
                <a:pathLst>
                  <a:path h="692150" w="787566">
                    <a:moveTo>
                      <a:pt x="0" y="0"/>
                    </a:moveTo>
                    <a:lnTo>
                      <a:pt x="787566" y="0"/>
                    </a:lnTo>
                    <a:lnTo>
                      <a:pt x="787566" y="692150"/>
                    </a:lnTo>
                    <a:lnTo>
                      <a:pt x="0" y="6921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7302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74999"/>
              <a:ext cx="1828278" cy="922546"/>
            </a:xfrm>
            <a:prstGeom prst="rect">
              <a:avLst/>
            </a:prstGeom>
          </p:spPr>
          <p:txBody>
            <a:bodyPr anchor="t" rtlCol="false" tIns="0" lIns="0" bIns="0" rIns="0">
              <a:spAutoFit/>
            </a:bodyPr>
            <a:lstStyle/>
            <a:p>
              <a:pPr algn="ctr" marL="0" indent="0" lvl="0">
                <a:lnSpc>
                  <a:spcPts val="4975"/>
                </a:lnSpc>
              </a:pPr>
              <a:r>
                <a:rPr lang="en-US" sz="5076" spc="-324">
                  <a:solidFill>
                    <a:srgbClr val="FFFFFF"/>
                  </a:solidFill>
                  <a:latin typeface="Bricolage Grotesque"/>
                  <a:ea typeface="Bricolage Grotesque"/>
                  <a:cs typeface="Bricolage Grotesque"/>
                  <a:sym typeface="Bricolage Grotesque"/>
                </a:rPr>
                <a:t>02</a:t>
              </a:r>
            </a:p>
          </p:txBody>
        </p:sp>
      </p:grpSp>
      <p:grpSp>
        <p:nvGrpSpPr>
          <p:cNvPr name="Group 7" id="7"/>
          <p:cNvGrpSpPr/>
          <p:nvPr/>
        </p:nvGrpSpPr>
        <p:grpSpPr>
          <a:xfrm rot="0">
            <a:off x="5545788" y="3062727"/>
            <a:ext cx="7196424" cy="379246"/>
            <a:chOff x="0" y="0"/>
            <a:chExt cx="9595232" cy="505662"/>
          </a:xfrm>
        </p:grpSpPr>
        <p:sp>
          <p:nvSpPr>
            <p:cNvPr name="TextBox 8" id="8"/>
            <p:cNvSpPr txBox="true"/>
            <p:nvPr/>
          </p:nvSpPr>
          <p:spPr>
            <a:xfrm rot="0">
              <a:off x="0" y="88389"/>
              <a:ext cx="9378912" cy="417273"/>
            </a:xfrm>
            <a:prstGeom prst="rect">
              <a:avLst/>
            </a:prstGeom>
          </p:spPr>
          <p:txBody>
            <a:bodyPr anchor="t" rtlCol="false" tIns="0" lIns="0" bIns="0" rIns="0">
              <a:spAutoFit/>
            </a:bodyPr>
            <a:lstStyle/>
            <a:p>
              <a:pPr algn="l" marL="0" indent="0" lvl="0">
                <a:lnSpc>
                  <a:spcPts val="2569"/>
                </a:lnSpc>
              </a:pPr>
              <a:r>
                <a:rPr lang="en-US" b="true" sz="1835" spc="-45">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GOOGLE PLAY STORE MARKET ANALYSIS — PROJECT OVERVIEW</a:t>
              </a:r>
            </a:p>
          </p:txBody>
        </p:sp>
        <p:sp>
          <p:nvSpPr>
            <p:cNvPr name="Freeform 9" id="9"/>
            <p:cNvSpPr/>
            <p:nvPr/>
          </p:nvSpPr>
          <p:spPr>
            <a:xfrm flipH="false" flipV="false" rot="-8687136">
              <a:off x="9278212"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463921" y="4926041"/>
            <a:ext cx="3746706" cy="37467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2" id="12"/>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3" id="13"/>
          <p:cNvGrpSpPr/>
          <p:nvPr/>
        </p:nvGrpSpPr>
        <p:grpSpPr>
          <a:xfrm rot="0">
            <a:off x="5334452" y="4926041"/>
            <a:ext cx="3746706" cy="37467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6" id="16"/>
          <p:cNvGrpSpPr/>
          <p:nvPr/>
        </p:nvGrpSpPr>
        <p:grpSpPr>
          <a:xfrm rot="0">
            <a:off x="9205912" y="4926041"/>
            <a:ext cx="3746706" cy="3746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8" id="18"/>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9" id="19"/>
          <p:cNvGrpSpPr/>
          <p:nvPr/>
        </p:nvGrpSpPr>
        <p:grpSpPr>
          <a:xfrm rot="0">
            <a:off x="13077373" y="4926041"/>
            <a:ext cx="3746706" cy="37467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sp>
        <p:nvSpPr>
          <p:cNvPr name="TextBox 22" id="22"/>
          <p:cNvSpPr txBox="true"/>
          <p:nvPr/>
        </p:nvSpPr>
        <p:spPr>
          <a:xfrm rot="0">
            <a:off x="2345222" y="5992240"/>
            <a:ext cx="1984104" cy="567751"/>
          </a:xfrm>
          <a:prstGeom prst="rect">
            <a:avLst/>
          </a:prstGeom>
        </p:spPr>
        <p:txBody>
          <a:bodyPr anchor="t" rtlCol="false" tIns="0" lIns="0" bIns="0" rIns="0">
            <a:spAutoFit/>
          </a:bodyPr>
          <a:lstStyle/>
          <a:p>
            <a:pPr algn="ctr" marL="0" indent="0" lvl="0">
              <a:lnSpc>
                <a:spcPts val="2243"/>
              </a:lnSpc>
            </a:pPr>
            <a:r>
              <a:rPr lang="en-US" b="true" sz="1739" spc="-5">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BUSINESS PROBLEM</a:t>
            </a:r>
          </a:p>
        </p:txBody>
      </p:sp>
      <p:sp>
        <p:nvSpPr>
          <p:cNvPr name="TextBox 23" id="23"/>
          <p:cNvSpPr txBox="true"/>
          <p:nvPr/>
        </p:nvSpPr>
        <p:spPr>
          <a:xfrm rot="0">
            <a:off x="2124549" y="6765742"/>
            <a:ext cx="2425450" cy="842586"/>
          </a:xfrm>
          <a:prstGeom prst="rect">
            <a:avLst/>
          </a:prstGeom>
        </p:spPr>
        <p:txBody>
          <a:bodyPr anchor="t" rtlCol="false" tIns="0" lIns="0" bIns="0" rIns="0">
            <a:spAutoFit/>
          </a:bodyPr>
          <a:lstStyle/>
          <a:p>
            <a:pPr algn="ctr" marL="0" indent="0" lvl="0">
              <a:lnSpc>
                <a:spcPts val="1654"/>
              </a:lnSpc>
            </a:pPr>
            <a:r>
              <a:rPr lang="en-US" sz="1282" spc="-3">
                <a:solidFill>
                  <a:srgbClr val="3A58E4"/>
                </a:solidFill>
                <a:latin typeface="Poppins"/>
                <a:ea typeface="Poppins"/>
                <a:cs typeface="Poppins"/>
                <a:sym typeface="Poppins"/>
              </a:rPr>
              <a:t>Increasing competition &amp; revenue optimization challenges in the app marketplace</a:t>
            </a:r>
          </a:p>
        </p:txBody>
      </p:sp>
      <p:sp>
        <p:nvSpPr>
          <p:cNvPr name="TextBox 24" id="24"/>
          <p:cNvSpPr txBox="true"/>
          <p:nvPr/>
        </p:nvSpPr>
        <p:spPr>
          <a:xfrm rot="0">
            <a:off x="6215753" y="6271768"/>
            <a:ext cx="1984104" cy="288224"/>
          </a:xfrm>
          <a:prstGeom prst="rect">
            <a:avLst/>
          </a:prstGeom>
        </p:spPr>
        <p:txBody>
          <a:bodyPr anchor="t" rtlCol="false" tIns="0" lIns="0" bIns="0" rIns="0">
            <a:spAutoFit/>
          </a:bodyPr>
          <a:lstStyle/>
          <a:p>
            <a:pPr algn="ctr" marL="0" indent="0" lvl="0">
              <a:lnSpc>
                <a:spcPts val="2243"/>
              </a:lnSpc>
            </a:pPr>
            <a:r>
              <a:rPr lang="en-US" b="true" sz="1739" spc="-5">
                <a:solidFill>
                  <a:srgbClr val="FFFFFF"/>
                </a:solidFill>
                <a:latin typeface="Poppins Bold"/>
                <a:ea typeface="Poppins Bold"/>
                <a:cs typeface="Poppins Bold"/>
                <a:sym typeface="Poppins Bold"/>
              </a:rPr>
              <a:t>OBJECTIVE</a:t>
            </a:r>
          </a:p>
        </p:txBody>
      </p:sp>
      <p:sp>
        <p:nvSpPr>
          <p:cNvPr name="TextBox 25" id="25"/>
          <p:cNvSpPr txBox="true"/>
          <p:nvPr/>
        </p:nvSpPr>
        <p:spPr>
          <a:xfrm rot="0">
            <a:off x="5995080" y="6975292"/>
            <a:ext cx="2425450" cy="633036"/>
          </a:xfrm>
          <a:prstGeom prst="rect">
            <a:avLst/>
          </a:prstGeom>
        </p:spPr>
        <p:txBody>
          <a:bodyPr anchor="t" rtlCol="false" tIns="0" lIns="0" bIns="0" rIns="0">
            <a:spAutoFit/>
          </a:bodyPr>
          <a:lstStyle/>
          <a:p>
            <a:pPr algn="ctr" marL="0" indent="0" lvl="0">
              <a:lnSpc>
                <a:spcPts val="1654"/>
              </a:lnSpc>
            </a:pPr>
            <a:r>
              <a:rPr lang="en-US" sz="1282" spc="-3">
                <a:solidFill>
                  <a:srgbClr val="FFFFFF"/>
                </a:solidFill>
                <a:latin typeface="Poppins"/>
                <a:ea typeface="Poppins"/>
                <a:cs typeface="Poppins"/>
                <a:sym typeface="Poppins"/>
              </a:rPr>
              <a:t>Transform raw marketplace data into actionable business insights</a:t>
            </a:r>
          </a:p>
        </p:txBody>
      </p:sp>
      <p:sp>
        <p:nvSpPr>
          <p:cNvPr name="TextBox 26" id="26"/>
          <p:cNvSpPr txBox="true"/>
          <p:nvPr/>
        </p:nvSpPr>
        <p:spPr>
          <a:xfrm rot="0">
            <a:off x="9901910" y="5992240"/>
            <a:ext cx="2354710" cy="567751"/>
          </a:xfrm>
          <a:prstGeom prst="rect">
            <a:avLst/>
          </a:prstGeom>
        </p:spPr>
        <p:txBody>
          <a:bodyPr anchor="t" rtlCol="false" tIns="0" lIns="0" bIns="0" rIns="0">
            <a:spAutoFit/>
          </a:bodyPr>
          <a:lstStyle/>
          <a:p>
            <a:pPr algn="ctr" marL="0" indent="0" lvl="0">
              <a:lnSpc>
                <a:spcPts val="2243"/>
              </a:lnSpc>
            </a:pPr>
            <a:r>
              <a:rPr lang="en-US" b="true" sz="1739" spc="-5">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ANALYTICS WORKFLOW</a:t>
            </a:r>
          </a:p>
        </p:txBody>
      </p:sp>
      <p:sp>
        <p:nvSpPr>
          <p:cNvPr name="TextBox 27" id="27"/>
          <p:cNvSpPr txBox="true"/>
          <p:nvPr/>
        </p:nvSpPr>
        <p:spPr>
          <a:xfrm rot="0">
            <a:off x="9866540" y="6975292"/>
            <a:ext cx="2425450" cy="633036"/>
          </a:xfrm>
          <a:prstGeom prst="rect">
            <a:avLst/>
          </a:prstGeom>
        </p:spPr>
        <p:txBody>
          <a:bodyPr anchor="t" rtlCol="false" tIns="0" lIns="0" bIns="0" rIns="0">
            <a:spAutoFit/>
          </a:bodyPr>
          <a:lstStyle/>
          <a:p>
            <a:pPr algn="ctr" marL="0" indent="0" lvl="0">
              <a:lnSpc>
                <a:spcPts val="1654"/>
              </a:lnSpc>
            </a:pPr>
            <a:r>
              <a:rPr lang="en-US" sz="1282" spc="-3">
                <a:solidFill>
                  <a:srgbClr val="3A58E4"/>
                </a:solidFill>
                <a:latin typeface="Poppins"/>
                <a:ea typeface="Poppins"/>
                <a:cs typeface="Poppins"/>
                <a:sym typeface="Poppins"/>
              </a:rPr>
              <a:t>Data cleaning → SQL analysis → Power BI dashboard development</a:t>
            </a:r>
          </a:p>
        </p:txBody>
      </p:sp>
      <p:sp>
        <p:nvSpPr>
          <p:cNvPr name="TextBox 28" id="28"/>
          <p:cNvSpPr txBox="true"/>
          <p:nvPr/>
        </p:nvSpPr>
        <p:spPr>
          <a:xfrm rot="0">
            <a:off x="13958674" y="6271768"/>
            <a:ext cx="1984104" cy="288224"/>
          </a:xfrm>
          <a:prstGeom prst="rect">
            <a:avLst/>
          </a:prstGeom>
        </p:spPr>
        <p:txBody>
          <a:bodyPr anchor="t" rtlCol="false" tIns="0" lIns="0" bIns="0" rIns="0">
            <a:spAutoFit/>
          </a:bodyPr>
          <a:lstStyle/>
          <a:p>
            <a:pPr algn="ctr" marL="0" indent="0" lvl="0">
              <a:lnSpc>
                <a:spcPts val="2243"/>
              </a:lnSpc>
            </a:pPr>
            <a:r>
              <a:rPr lang="en-US" b="true" sz="1739" spc="-5">
                <a:solidFill>
                  <a:srgbClr val="FFFFFF"/>
                </a:solidFill>
                <a:latin typeface="Poppins Bold"/>
                <a:ea typeface="Poppins Bold"/>
                <a:cs typeface="Poppins Bold"/>
                <a:sym typeface="Poppins Bold"/>
              </a:rPr>
              <a:t>OUTCOME</a:t>
            </a:r>
          </a:p>
        </p:txBody>
      </p:sp>
      <p:sp>
        <p:nvSpPr>
          <p:cNvPr name="TextBox 29" id="29"/>
          <p:cNvSpPr txBox="true"/>
          <p:nvPr/>
        </p:nvSpPr>
        <p:spPr>
          <a:xfrm rot="0">
            <a:off x="13738001" y="6975292"/>
            <a:ext cx="2425450" cy="633036"/>
          </a:xfrm>
          <a:prstGeom prst="rect">
            <a:avLst/>
          </a:prstGeom>
        </p:spPr>
        <p:txBody>
          <a:bodyPr anchor="t" rtlCol="false" tIns="0" lIns="0" bIns="0" rIns="0">
            <a:spAutoFit/>
          </a:bodyPr>
          <a:lstStyle/>
          <a:p>
            <a:pPr algn="ctr" marL="0" indent="0" lvl="0">
              <a:lnSpc>
                <a:spcPts val="1654"/>
              </a:lnSpc>
            </a:pPr>
            <a:r>
              <a:rPr lang="en-US" sz="1282" spc="-3">
                <a:solidFill>
                  <a:srgbClr val="FFFFFF"/>
                </a:solidFill>
                <a:latin typeface="Poppins"/>
                <a:ea typeface="Poppins"/>
                <a:cs typeface="Poppins"/>
                <a:sym typeface="Poppins"/>
              </a:rPr>
              <a:t>Data-driven business intelligence enabling strategic decisions</a:t>
            </a:r>
          </a:p>
        </p:txBody>
      </p:sp>
      <p:grpSp>
        <p:nvGrpSpPr>
          <p:cNvPr name="Group 30" id="30"/>
          <p:cNvGrpSpPr/>
          <p:nvPr/>
        </p:nvGrpSpPr>
        <p:grpSpPr>
          <a:xfrm rot="0">
            <a:off x="4176506" y="5006019"/>
            <a:ext cx="746986" cy="667008"/>
            <a:chOff x="0" y="0"/>
            <a:chExt cx="995981" cy="889344"/>
          </a:xfrm>
        </p:grpSpPr>
        <p:grpSp>
          <p:nvGrpSpPr>
            <p:cNvPr name="Group 31" id="31"/>
            <p:cNvGrpSpPr/>
            <p:nvPr/>
          </p:nvGrpSpPr>
          <p:grpSpPr>
            <a:xfrm rot="0">
              <a:off x="0" y="0"/>
              <a:ext cx="995981" cy="889344"/>
              <a:chOff x="0" y="0"/>
              <a:chExt cx="812800" cy="725776"/>
            </a:xfrm>
          </p:grpSpPr>
          <p:sp>
            <p:nvSpPr>
              <p:cNvPr name="Freeform 32" id="32"/>
              <p:cNvSpPr/>
              <p:nvPr/>
            </p:nvSpPr>
            <p:spPr>
              <a:xfrm flipH="false" flipV="false" rot="0">
                <a:off x="0" y="0"/>
                <a:ext cx="812800" cy="725776"/>
              </a:xfrm>
              <a:custGeom>
                <a:avLst/>
                <a:gdLst/>
                <a:ahLst/>
                <a:cxnLst/>
                <a:rect r="r" b="b" t="t" l="l"/>
                <a:pathLst>
                  <a:path h="725776" w="812800">
                    <a:moveTo>
                      <a:pt x="406400" y="0"/>
                    </a:moveTo>
                    <a:cubicBezTo>
                      <a:pt x="181951" y="0"/>
                      <a:pt x="0" y="162470"/>
                      <a:pt x="0" y="362888"/>
                    </a:cubicBezTo>
                    <a:cubicBezTo>
                      <a:pt x="0" y="563305"/>
                      <a:pt x="181951" y="725776"/>
                      <a:pt x="406400" y="725776"/>
                    </a:cubicBezTo>
                    <a:cubicBezTo>
                      <a:pt x="630849" y="725776"/>
                      <a:pt x="812800" y="563305"/>
                      <a:pt x="812800" y="362888"/>
                    </a:cubicBezTo>
                    <a:cubicBezTo>
                      <a:pt x="812800" y="162470"/>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33" id="33"/>
              <p:cNvSpPr txBox="true"/>
              <p:nvPr/>
            </p:nvSpPr>
            <p:spPr>
              <a:xfrm>
                <a:off x="76200" y="29941"/>
                <a:ext cx="660400" cy="627793"/>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175623" y="245086"/>
              <a:ext cx="644736" cy="370597"/>
            </a:xfrm>
            <a:prstGeom prst="rect">
              <a:avLst/>
            </a:prstGeom>
          </p:spPr>
          <p:txBody>
            <a:bodyPr anchor="t" rtlCol="false" tIns="0" lIns="0" bIns="0" rIns="0">
              <a:spAutoFit/>
            </a:bodyPr>
            <a:lstStyle/>
            <a:p>
              <a:pPr algn="ctr" marL="0" indent="0" lvl="0">
                <a:lnSpc>
                  <a:spcPts val="2224"/>
                </a:lnSpc>
              </a:pPr>
              <a:r>
                <a:rPr lang="en-US" sz="1724" spc="-5">
                  <a:solidFill>
                    <a:srgbClr val="FFFFFF"/>
                  </a:solidFill>
                  <a:latin typeface="Poppins"/>
                  <a:ea typeface="Poppins"/>
                  <a:cs typeface="Poppins"/>
                  <a:sym typeface="Poppins"/>
                </a:rPr>
                <a:t>01</a:t>
              </a:r>
            </a:p>
          </p:txBody>
        </p:sp>
      </p:grpSp>
      <p:grpSp>
        <p:nvGrpSpPr>
          <p:cNvPr name="Group 35" id="35"/>
          <p:cNvGrpSpPr/>
          <p:nvPr/>
        </p:nvGrpSpPr>
        <p:grpSpPr>
          <a:xfrm rot="0">
            <a:off x="8047037" y="5006019"/>
            <a:ext cx="746986" cy="667008"/>
            <a:chOff x="0" y="0"/>
            <a:chExt cx="995981" cy="889344"/>
          </a:xfrm>
        </p:grpSpPr>
        <p:grpSp>
          <p:nvGrpSpPr>
            <p:cNvPr name="Group 36" id="36"/>
            <p:cNvGrpSpPr/>
            <p:nvPr/>
          </p:nvGrpSpPr>
          <p:grpSpPr>
            <a:xfrm rot="0">
              <a:off x="0" y="0"/>
              <a:ext cx="995981" cy="889344"/>
              <a:chOff x="0" y="0"/>
              <a:chExt cx="812800" cy="725776"/>
            </a:xfrm>
          </p:grpSpPr>
          <p:sp>
            <p:nvSpPr>
              <p:cNvPr name="Freeform 37" id="37"/>
              <p:cNvSpPr/>
              <p:nvPr/>
            </p:nvSpPr>
            <p:spPr>
              <a:xfrm flipH="false" flipV="false" rot="0">
                <a:off x="0" y="0"/>
                <a:ext cx="812800" cy="725776"/>
              </a:xfrm>
              <a:custGeom>
                <a:avLst/>
                <a:gdLst/>
                <a:ahLst/>
                <a:cxnLst/>
                <a:rect r="r" b="b" t="t" l="l"/>
                <a:pathLst>
                  <a:path h="725776" w="812800">
                    <a:moveTo>
                      <a:pt x="406400" y="0"/>
                    </a:moveTo>
                    <a:cubicBezTo>
                      <a:pt x="181951" y="0"/>
                      <a:pt x="0" y="162470"/>
                      <a:pt x="0" y="362888"/>
                    </a:cubicBezTo>
                    <a:cubicBezTo>
                      <a:pt x="0" y="563305"/>
                      <a:pt x="181951" y="725776"/>
                      <a:pt x="406400" y="725776"/>
                    </a:cubicBezTo>
                    <a:cubicBezTo>
                      <a:pt x="630849" y="725776"/>
                      <a:pt x="812800" y="563305"/>
                      <a:pt x="812800" y="362888"/>
                    </a:cubicBezTo>
                    <a:cubicBezTo>
                      <a:pt x="812800" y="162470"/>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38" id="38"/>
              <p:cNvSpPr txBox="true"/>
              <p:nvPr/>
            </p:nvSpPr>
            <p:spPr>
              <a:xfrm>
                <a:off x="76200" y="29941"/>
                <a:ext cx="660400" cy="627793"/>
              </a:xfrm>
              <a:prstGeom prst="rect">
                <a:avLst/>
              </a:prstGeom>
            </p:spPr>
            <p:txBody>
              <a:bodyPr anchor="ctr" rtlCol="false" tIns="50800" lIns="50800" bIns="50800" rIns="50800"/>
              <a:lstStyle/>
              <a:p>
                <a:pPr algn="ctr" marL="0" indent="0" lvl="0">
                  <a:lnSpc>
                    <a:spcPts val="2659"/>
                  </a:lnSpc>
                </a:pPr>
              </a:p>
            </p:txBody>
          </p:sp>
        </p:grpSp>
        <p:sp>
          <p:nvSpPr>
            <p:cNvPr name="TextBox 39" id="39"/>
            <p:cNvSpPr txBox="true"/>
            <p:nvPr/>
          </p:nvSpPr>
          <p:spPr>
            <a:xfrm rot="0">
              <a:off x="175623" y="245086"/>
              <a:ext cx="644736" cy="370597"/>
            </a:xfrm>
            <a:prstGeom prst="rect">
              <a:avLst/>
            </a:prstGeom>
          </p:spPr>
          <p:txBody>
            <a:bodyPr anchor="t" rtlCol="false" tIns="0" lIns="0" bIns="0" rIns="0">
              <a:spAutoFit/>
            </a:bodyPr>
            <a:lstStyle/>
            <a:p>
              <a:pPr algn="ctr" marL="0" indent="0" lvl="0">
                <a:lnSpc>
                  <a:spcPts val="2224"/>
                </a:lnSpc>
              </a:pPr>
              <a:r>
                <a:rPr lang="en-US" sz="1724" spc="-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40" id="40"/>
          <p:cNvGrpSpPr/>
          <p:nvPr/>
        </p:nvGrpSpPr>
        <p:grpSpPr>
          <a:xfrm rot="0">
            <a:off x="11919608" y="5006019"/>
            <a:ext cx="746986" cy="667008"/>
            <a:chOff x="0" y="0"/>
            <a:chExt cx="995981" cy="889344"/>
          </a:xfrm>
        </p:grpSpPr>
        <p:grpSp>
          <p:nvGrpSpPr>
            <p:cNvPr name="Group 41" id="41"/>
            <p:cNvGrpSpPr/>
            <p:nvPr/>
          </p:nvGrpSpPr>
          <p:grpSpPr>
            <a:xfrm rot="0">
              <a:off x="0" y="0"/>
              <a:ext cx="995981" cy="889344"/>
              <a:chOff x="0" y="0"/>
              <a:chExt cx="812800" cy="725776"/>
            </a:xfrm>
          </p:grpSpPr>
          <p:sp>
            <p:nvSpPr>
              <p:cNvPr name="Freeform 42" id="42"/>
              <p:cNvSpPr/>
              <p:nvPr/>
            </p:nvSpPr>
            <p:spPr>
              <a:xfrm flipH="false" flipV="false" rot="0">
                <a:off x="0" y="0"/>
                <a:ext cx="812800" cy="725776"/>
              </a:xfrm>
              <a:custGeom>
                <a:avLst/>
                <a:gdLst/>
                <a:ahLst/>
                <a:cxnLst/>
                <a:rect r="r" b="b" t="t" l="l"/>
                <a:pathLst>
                  <a:path h="725776" w="812800">
                    <a:moveTo>
                      <a:pt x="406400" y="0"/>
                    </a:moveTo>
                    <a:cubicBezTo>
                      <a:pt x="181951" y="0"/>
                      <a:pt x="0" y="162470"/>
                      <a:pt x="0" y="362888"/>
                    </a:cubicBezTo>
                    <a:cubicBezTo>
                      <a:pt x="0" y="563305"/>
                      <a:pt x="181951" y="725776"/>
                      <a:pt x="406400" y="725776"/>
                    </a:cubicBezTo>
                    <a:cubicBezTo>
                      <a:pt x="630849" y="725776"/>
                      <a:pt x="812800" y="563305"/>
                      <a:pt x="812800" y="362888"/>
                    </a:cubicBezTo>
                    <a:cubicBezTo>
                      <a:pt x="812800" y="162470"/>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43" id="43"/>
              <p:cNvSpPr txBox="true"/>
              <p:nvPr/>
            </p:nvSpPr>
            <p:spPr>
              <a:xfrm>
                <a:off x="76200" y="29941"/>
                <a:ext cx="660400" cy="627793"/>
              </a:xfrm>
              <a:prstGeom prst="rect">
                <a:avLst/>
              </a:prstGeom>
            </p:spPr>
            <p:txBody>
              <a:bodyPr anchor="ctr" rtlCol="false" tIns="50800" lIns="50800" bIns="50800" rIns="50800"/>
              <a:lstStyle/>
              <a:p>
                <a:pPr algn="ctr" marL="0" indent="0" lvl="0">
                  <a:lnSpc>
                    <a:spcPts val="2659"/>
                  </a:lnSpc>
                </a:pPr>
              </a:p>
            </p:txBody>
          </p:sp>
        </p:grpSp>
        <p:sp>
          <p:nvSpPr>
            <p:cNvPr name="TextBox 44" id="44"/>
            <p:cNvSpPr txBox="true"/>
            <p:nvPr/>
          </p:nvSpPr>
          <p:spPr>
            <a:xfrm rot="0">
              <a:off x="175623" y="245086"/>
              <a:ext cx="644736" cy="370597"/>
            </a:xfrm>
            <a:prstGeom prst="rect">
              <a:avLst/>
            </a:prstGeom>
          </p:spPr>
          <p:txBody>
            <a:bodyPr anchor="t" rtlCol="false" tIns="0" lIns="0" bIns="0" rIns="0">
              <a:spAutoFit/>
            </a:bodyPr>
            <a:lstStyle/>
            <a:p>
              <a:pPr algn="ctr" marL="0" indent="0" lvl="0">
                <a:lnSpc>
                  <a:spcPts val="2224"/>
                </a:lnSpc>
              </a:pPr>
              <a:r>
                <a:rPr lang="en-US" sz="1724" spc="-5">
                  <a:solidFill>
                    <a:srgbClr val="FFFFFF"/>
                  </a:solidFill>
                  <a:latin typeface="Poppins"/>
                  <a:ea typeface="Poppins"/>
                  <a:cs typeface="Poppins"/>
                  <a:sym typeface="Poppins"/>
                </a:rPr>
                <a:t>03</a:t>
              </a:r>
            </a:p>
          </p:txBody>
        </p:sp>
      </p:grpSp>
      <p:grpSp>
        <p:nvGrpSpPr>
          <p:cNvPr name="Group 45" id="45"/>
          <p:cNvGrpSpPr/>
          <p:nvPr/>
        </p:nvGrpSpPr>
        <p:grpSpPr>
          <a:xfrm rot="0">
            <a:off x="15791068" y="5006019"/>
            <a:ext cx="746986" cy="667008"/>
            <a:chOff x="0" y="0"/>
            <a:chExt cx="995981" cy="889344"/>
          </a:xfrm>
        </p:grpSpPr>
        <p:grpSp>
          <p:nvGrpSpPr>
            <p:cNvPr name="Group 46" id="46"/>
            <p:cNvGrpSpPr/>
            <p:nvPr/>
          </p:nvGrpSpPr>
          <p:grpSpPr>
            <a:xfrm rot="0">
              <a:off x="0" y="0"/>
              <a:ext cx="995981" cy="889344"/>
              <a:chOff x="0" y="0"/>
              <a:chExt cx="812800" cy="725776"/>
            </a:xfrm>
          </p:grpSpPr>
          <p:sp>
            <p:nvSpPr>
              <p:cNvPr name="Freeform 47" id="47"/>
              <p:cNvSpPr/>
              <p:nvPr/>
            </p:nvSpPr>
            <p:spPr>
              <a:xfrm flipH="false" flipV="false" rot="0">
                <a:off x="0" y="0"/>
                <a:ext cx="812800" cy="725776"/>
              </a:xfrm>
              <a:custGeom>
                <a:avLst/>
                <a:gdLst/>
                <a:ahLst/>
                <a:cxnLst/>
                <a:rect r="r" b="b" t="t" l="l"/>
                <a:pathLst>
                  <a:path h="725776" w="812800">
                    <a:moveTo>
                      <a:pt x="406400" y="0"/>
                    </a:moveTo>
                    <a:cubicBezTo>
                      <a:pt x="181951" y="0"/>
                      <a:pt x="0" y="162470"/>
                      <a:pt x="0" y="362888"/>
                    </a:cubicBezTo>
                    <a:cubicBezTo>
                      <a:pt x="0" y="563305"/>
                      <a:pt x="181951" y="725776"/>
                      <a:pt x="406400" y="725776"/>
                    </a:cubicBezTo>
                    <a:cubicBezTo>
                      <a:pt x="630849" y="725776"/>
                      <a:pt x="812800" y="563305"/>
                      <a:pt x="812800" y="362888"/>
                    </a:cubicBezTo>
                    <a:cubicBezTo>
                      <a:pt x="812800" y="162470"/>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48" id="48"/>
              <p:cNvSpPr txBox="true"/>
              <p:nvPr/>
            </p:nvSpPr>
            <p:spPr>
              <a:xfrm>
                <a:off x="76200" y="29941"/>
                <a:ext cx="660400" cy="627793"/>
              </a:xfrm>
              <a:prstGeom prst="rect">
                <a:avLst/>
              </a:prstGeom>
            </p:spPr>
            <p:txBody>
              <a:bodyPr anchor="ctr" rtlCol="false" tIns="50800" lIns="50800" bIns="50800" rIns="50800"/>
              <a:lstStyle/>
              <a:p>
                <a:pPr algn="ctr" marL="0" indent="0" lvl="0">
                  <a:lnSpc>
                    <a:spcPts val="2659"/>
                  </a:lnSpc>
                </a:pPr>
              </a:p>
            </p:txBody>
          </p:sp>
        </p:grpSp>
        <p:sp>
          <p:nvSpPr>
            <p:cNvPr name="TextBox 49" id="49"/>
            <p:cNvSpPr txBox="true"/>
            <p:nvPr/>
          </p:nvSpPr>
          <p:spPr>
            <a:xfrm rot="0">
              <a:off x="175623" y="245086"/>
              <a:ext cx="644736" cy="370597"/>
            </a:xfrm>
            <a:prstGeom prst="rect">
              <a:avLst/>
            </a:prstGeom>
          </p:spPr>
          <p:txBody>
            <a:bodyPr anchor="t" rtlCol="false" tIns="0" lIns="0" bIns="0" rIns="0">
              <a:spAutoFit/>
            </a:bodyPr>
            <a:lstStyle/>
            <a:p>
              <a:pPr algn="ctr" marL="0" indent="0" lvl="0">
                <a:lnSpc>
                  <a:spcPts val="2224"/>
                </a:lnSpc>
              </a:pPr>
              <a:r>
                <a:rPr lang="en-US" sz="1724" spc="-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04</a:t>
              </a:r>
            </a:p>
          </p:txBody>
        </p:sp>
      </p:grpSp>
      <p:sp>
        <p:nvSpPr>
          <p:cNvPr name="TextBox 50" id="50"/>
          <p:cNvSpPr txBox="true"/>
          <p:nvPr/>
        </p:nvSpPr>
        <p:spPr>
          <a:xfrm rot="0">
            <a:off x="3363658" y="1531339"/>
            <a:ext cx="11560683" cy="1273720"/>
          </a:xfrm>
          <a:prstGeom prst="rect">
            <a:avLst/>
          </a:prstGeom>
        </p:spPr>
        <p:txBody>
          <a:bodyPr anchor="t" rtlCol="false" tIns="0" lIns="0" bIns="0" rIns="0">
            <a:spAutoFit/>
          </a:bodyPr>
          <a:lstStyle/>
          <a:p>
            <a:pPr algn="ctr"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Executive Summary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6766" y="1206794"/>
            <a:ext cx="5217559" cy="2521349"/>
          </a:xfrm>
          <a:prstGeom prst="rect">
            <a:avLst/>
          </a:prstGeom>
        </p:spPr>
        <p:txBody>
          <a:bodyPr anchor="t" rtlCol="false" tIns="0" lIns="0" bIns="0" rIns="0">
            <a:spAutoFit/>
          </a:bodyPr>
          <a:lstStyle/>
          <a:p>
            <a:pPr algn="l" marL="0" indent="0" lvl="0">
              <a:lnSpc>
                <a:spcPts val="6580"/>
              </a:lnSpc>
            </a:pPr>
            <a:r>
              <a:rPr lang="en-US" sz="6714" spc="-42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Business Problem &amp; Objectives</a:t>
            </a:r>
          </a:p>
        </p:txBody>
      </p:sp>
      <p:grpSp>
        <p:nvGrpSpPr>
          <p:cNvPr name="Group 3" id="3"/>
          <p:cNvGrpSpPr/>
          <p:nvPr/>
        </p:nvGrpSpPr>
        <p:grpSpPr>
          <a:xfrm rot="0">
            <a:off x="1028700" y="1358088"/>
            <a:ext cx="47625" cy="2040668"/>
            <a:chOff x="0" y="0"/>
            <a:chExt cx="12543" cy="537460"/>
          </a:xfrm>
        </p:grpSpPr>
        <p:sp>
          <p:nvSpPr>
            <p:cNvPr name="Freeform 4" id="4"/>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5" id="5"/>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1028700" y="4312874"/>
            <a:ext cx="8172450" cy="379246"/>
            <a:chOff x="0" y="0"/>
            <a:chExt cx="10896600" cy="505662"/>
          </a:xfrm>
        </p:grpSpPr>
        <p:sp>
          <p:nvSpPr>
            <p:cNvPr name="TextBox 7" id="7"/>
            <p:cNvSpPr txBox="true"/>
            <p:nvPr/>
          </p:nvSpPr>
          <p:spPr>
            <a:xfrm rot="0">
              <a:off x="0" y="141571"/>
              <a:ext cx="10820400" cy="364091"/>
            </a:xfrm>
            <a:prstGeom prst="rect">
              <a:avLst/>
            </a:prstGeom>
          </p:spPr>
          <p:txBody>
            <a:bodyPr anchor="t" rtlCol="false" tIns="0" lIns="0" bIns="0" rIns="0">
              <a:spAutoFit/>
            </a:bodyPr>
            <a:lstStyle/>
            <a:p>
              <a:pPr algn="l" marL="0" indent="0" lvl="0">
                <a:lnSpc>
                  <a:spcPts val="2273"/>
                </a:lnSpc>
              </a:pPr>
              <a:r>
                <a:rPr lang="en-US" b="true" sz="1624" spc="-40">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CHALLENGES FACING THE MARKETPLACE &amp; GOALS DRIVING THIS ANALYSIS</a:t>
              </a:r>
            </a:p>
          </p:txBody>
        </p:sp>
        <p:sp>
          <p:nvSpPr>
            <p:cNvPr name="Freeform 8" id="8"/>
            <p:cNvSpPr/>
            <p:nvPr/>
          </p:nvSpPr>
          <p:spPr>
            <a:xfrm flipH="false" flipV="false" rot="-8687136">
              <a:off x="10579580"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9" id="9"/>
          <p:cNvGrpSpPr/>
          <p:nvPr/>
        </p:nvGrpSpPr>
        <p:grpSpPr>
          <a:xfrm rot="0">
            <a:off x="16438046" y="314842"/>
            <a:ext cx="1849954" cy="1533325"/>
            <a:chOff x="0" y="0"/>
            <a:chExt cx="2466605" cy="2044433"/>
          </a:xfrm>
        </p:grpSpPr>
        <p:grpSp>
          <p:nvGrpSpPr>
            <p:cNvPr name="Group 10" id="10"/>
            <p:cNvGrpSpPr/>
            <p:nvPr/>
          </p:nvGrpSpPr>
          <p:grpSpPr>
            <a:xfrm rot="0">
              <a:off x="0" y="0"/>
              <a:ext cx="2466605" cy="2044433"/>
              <a:chOff x="0" y="0"/>
              <a:chExt cx="787566" cy="652770"/>
            </a:xfrm>
          </p:grpSpPr>
          <p:sp>
            <p:nvSpPr>
              <p:cNvPr name="Freeform 11" id="11"/>
              <p:cNvSpPr/>
              <p:nvPr/>
            </p:nvSpPr>
            <p:spPr>
              <a:xfrm flipH="false" flipV="false" rot="0">
                <a:off x="0" y="0"/>
                <a:ext cx="787566" cy="652770"/>
              </a:xfrm>
              <a:custGeom>
                <a:avLst/>
                <a:gdLst/>
                <a:ahLst/>
                <a:cxnLst/>
                <a:rect r="r" b="b" t="t" l="l"/>
                <a:pathLst>
                  <a:path h="652770" w="787566">
                    <a:moveTo>
                      <a:pt x="0" y="0"/>
                    </a:moveTo>
                    <a:lnTo>
                      <a:pt x="787566" y="0"/>
                    </a:lnTo>
                    <a:lnTo>
                      <a:pt x="787566" y="652770"/>
                    </a:lnTo>
                    <a:lnTo>
                      <a:pt x="0" y="65277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69087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55949"/>
              <a:ext cx="1828278" cy="818260"/>
            </a:xfrm>
            <a:prstGeom prst="rect">
              <a:avLst/>
            </a:prstGeom>
          </p:spPr>
          <p:txBody>
            <a:bodyPr anchor="t" rtlCol="false" tIns="0" lIns="0" bIns="0" rIns="0">
              <a:spAutoFit/>
            </a:bodyPr>
            <a:lstStyle/>
            <a:p>
              <a:pPr algn="ctr" marL="0" indent="0" lvl="0">
                <a:lnSpc>
                  <a:spcPts val="4403"/>
                </a:lnSpc>
              </a:pPr>
              <a:r>
                <a:rPr lang="en-US" sz="4493" spc="-287">
                  <a:solidFill>
                    <a:srgbClr val="FFFFFF"/>
                  </a:solidFill>
                  <a:latin typeface="Bricolage Grotesque"/>
                  <a:ea typeface="Bricolage Grotesque"/>
                  <a:cs typeface="Bricolage Grotesque"/>
                  <a:sym typeface="Bricolage Grotesque"/>
                </a:rPr>
                <a:t>03</a:t>
              </a:r>
            </a:p>
          </p:txBody>
        </p:sp>
      </p:grpSp>
      <p:sp>
        <p:nvSpPr>
          <p:cNvPr name="Freeform 14" id="14"/>
          <p:cNvSpPr/>
          <p:nvPr/>
        </p:nvSpPr>
        <p:spPr>
          <a:xfrm flipH="false" flipV="false" rot="0">
            <a:off x="9671644" y="2125227"/>
            <a:ext cx="7438428" cy="6815460"/>
          </a:xfrm>
          <a:custGeom>
            <a:avLst/>
            <a:gdLst/>
            <a:ahLst/>
            <a:cxnLst/>
            <a:rect r="r" b="b" t="t" l="l"/>
            <a:pathLst>
              <a:path h="6815460" w="7438428">
                <a:moveTo>
                  <a:pt x="0" y="0"/>
                </a:moveTo>
                <a:lnTo>
                  <a:pt x="7438428" y="0"/>
                </a:lnTo>
                <a:lnTo>
                  <a:pt x="7438428" y="6815460"/>
                </a:lnTo>
                <a:lnTo>
                  <a:pt x="0" y="6815460"/>
                </a:lnTo>
                <a:lnTo>
                  <a:pt x="0" y="0"/>
                </a:lnTo>
                <a:close/>
              </a:path>
            </a:pathLst>
          </a:custGeom>
          <a:blipFill>
            <a:blip r:embed="rId4"/>
            <a:stretch>
              <a:fillRect l="0" t="0" r="0" b="0"/>
            </a:stretch>
          </a:blipFill>
        </p:spPr>
      </p:sp>
      <p:sp>
        <p:nvSpPr>
          <p:cNvPr name="TextBox 15" id="15"/>
          <p:cNvSpPr txBox="true"/>
          <p:nvPr/>
        </p:nvSpPr>
        <p:spPr>
          <a:xfrm rot="0">
            <a:off x="1870201" y="5472630"/>
            <a:ext cx="7273799" cy="544157"/>
          </a:xfrm>
          <a:prstGeom prst="rect">
            <a:avLst/>
          </a:prstGeom>
        </p:spPr>
        <p:txBody>
          <a:bodyPr anchor="t" rtlCol="false" tIns="0" lIns="0" bIns="0" rIns="0">
            <a:spAutoFit/>
          </a:bodyPr>
          <a:lstStyle/>
          <a:p>
            <a:pPr algn="just" marL="0" indent="0" lvl="0">
              <a:lnSpc>
                <a:spcPts val="2175"/>
              </a:lnSpc>
            </a:pPr>
            <a:r>
              <a:rPr lang="en-US" sz="1553" spc="-38">
                <a:solidFill>
                  <a:srgbClr val="3A58E4"/>
                </a:solidFill>
                <a:latin typeface="Poppins"/>
                <a:ea typeface="Poppins"/>
                <a:cs typeface="Poppins"/>
                <a:sym typeface="Poppins"/>
              </a:rPr>
              <a:t>Increasing competition in the Google Play Store making it harder to identify profitable opportunities.</a:t>
            </a:r>
          </a:p>
        </p:txBody>
      </p:sp>
      <p:sp>
        <p:nvSpPr>
          <p:cNvPr name="TextBox 16" id="16"/>
          <p:cNvSpPr txBox="true"/>
          <p:nvPr/>
        </p:nvSpPr>
        <p:spPr>
          <a:xfrm rot="0">
            <a:off x="1870201" y="6463921"/>
            <a:ext cx="7273799" cy="544157"/>
          </a:xfrm>
          <a:prstGeom prst="rect">
            <a:avLst/>
          </a:prstGeom>
        </p:spPr>
        <p:txBody>
          <a:bodyPr anchor="t" rtlCol="false" tIns="0" lIns="0" bIns="0" rIns="0">
            <a:spAutoFit/>
          </a:bodyPr>
          <a:lstStyle/>
          <a:p>
            <a:pPr algn="just" marL="0" indent="0" lvl="0">
              <a:lnSpc>
                <a:spcPts val="2175"/>
              </a:lnSpc>
            </a:pPr>
            <a:r>
              <a:rPr lang="en-US" sz="1553" spc="-38">
                <a:solidFill>
                  <a:srgbClr val="3A58E4"/>
                </a:solidFill>
                <a:latin typeface="Poppins"/>
                <a:ea typeface="Poppins"/>
                <a:cs typeface="Poppins"/>
                <a:sym typeface="Poppins"/>
              </a:rPr>
              <a:t>Difficulty identifying high-revenue categories and understanding customer engagement patterns.</a:t>
            </a:r>
          </a:p>
        </p:txBody>
      </p:sp>
      <p:sp>
        <p:nvSpPr>
          <p:cNvPr name="TextBox 17" id="17"/>
          <p:cNvSpPr txBox="true"/>
          <p:nvPr/>
        </p:nvSpPr>
        <p:spPr>
          <a:xfrm rot="0">
            <a:off x="1870201" y="7455213"/>
            <a:ext cx="7273799" cy="544157"/>
          </a:xfrm>
          <a:prstGeom prst="rect">
            <a:avLst/>
          </a:prstGeom>
        </p:spPr>
        <p:txBody>
          <a:bodyPr anchor="t" rtlCol="false" tIns="0" lIns="0" bIns="0" rIns="0">
            <a:spAutoFit/>
          </a:bodyPr>
          <a:lstStyle/>
          <a:p>
            <a:pPr algn="just" marL="0" indent="0" lvl="0">
              <a:lnSpc>
                <a:spcPts val="2175"/>
              </a:lnSpc>
            </a:pPr>
            <a:r>
              <a:rPr lang="en-US" sz="1553" spc="-38">
                <a:solidFill>
                  <a:srgbClr val="3A58E4"/>
                </a:solidFill>
                <a:latin typeface="Poppins"/>
                <a:ea typeface="Poppins"/>
                <a:cs typeface="Poppins"/>
                <a:sym typeface="Poppins"/>
              </a:rPr>
              <a:t>Objectives: Clean data, analyze marketplace trends, and build comprehensive SQL reports.</a:t>
            </a:r>
          </a:p>
        </p:txBody>
      </p:sp>
      <p:sp>
        <p:nvSpPr>
          <p:cNvPr name="TextBox 18" id="18"/>
          <p:cNvSpPr txBox="true"/>
          <p:nvPr/>
        </p:nvSpPr>
        <p:spPr>
          <a:xfrm rot="0">
            <a:off x="1870201" y="8446504"/>
            <a:ext cx="7273799" cy="544157"/>
          </a:xfrm>
          <a:prstGeom prst="rect">
            <a:avLst/>
          </a:prstGeom>
        </p:spPr>
        <p:txBody>
          <a:bodyPr anchor="t" rtlCol="false" tIns="0" lIns="0" bIns="0" rIns="0">
            <a:spAutoFit/>
          </a:bodyPr>
          <a:lstStyle/>
          <a:p>
            <a:pPr algn="just" marL="0" indent="0" lvl="0">
              <a:lnSpc>
                <a:spcPts val="2175"/>
              </a:lnSpc>
            </a:pPr>
            <a:r>
              <a:rPr lang="en-US" sz="1553" spc="-38">
                <a:solidFill>
                  <a:srgbClr val="3A58E4"/>
                </a:solidFill>
                <a:latin typeface="Poppins"/>
                <a:ea typeface="Poppins"/>
                <a:cs typeface="Poppins"/>
                <a:sym typeface="Poppins"/>
              </a:rPr>
              <a:t>Develop an interactive Power BI dashboard to generate actionable business insights.</a:t>
            </a:r>
          </a:p>
        </p:txBody>
      </p:sp>
      <p:sp>
        <p:nvSpPr>
          <p:cNvPr name="Freeform 19" id="19"/>
          <p:cNvSpPr/>
          <p:nvPr/>
        </p:nvSpPr>
        <p:spPr>
          <a:xfrm flipH="false" flipV="false" rot="0">
            <a:off x="1052512" y="5400430"/>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052512" y="6391722"/>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52512" y="7383013"/>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052512" y="8376909"/>
            <a:ext cx="489071" cy="489071"/>
          </a:xfrm>
          <a:custGeom>
            <a:avLst/>
            <a:gdLst/>
            <a:ahLst/>
            <a:cxnLst/>
            <a:rect r="r" b="b" t="t" l="l"/>
            <a:pathLst>
              <a:path h="489071" w="489071">
                <a:moveTo>
                  <a:pt x="0" y="0"/>
                </a:moveTo>
                <a:lnTo>
                  <a:pt x="489072" y="0"/>
                </a:lnTo>
                <a:lnTo>
                  <a:pt x="489072" y="489072"/>
                </a:lnTo>
                <a:lnTo>
                  <a:pt x="0" y="4890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395901"/>
            <a:ext cx="1849954" cy="1452265"/>
            <a:chOff x="0" y="0"/>
            <a:chExt cx="2466605" cy="1936353"/>
          </a:xfrm>
        </p:grpSpPr>
        <p:grpSp>
          <p:nvGrpSpPr>
            <p:cNvPr name="Group 3" id="3"/>
            <p:cNvGrpSpPr/>
            <p:nvPr/>
          </p:nvGrpSpPr>
          <p:grpSpPr>
            <a:xfrm rot="0">
              <a:off x="0" y="0"/>
              <a:ext cx="2466605" cy="1936353"/>
              <a:chOff x="0" y="0"/>
              <a:chExt cx="787566" cy="618261"/>
            </a:xfrm>
          </p:grpSpPr>
          <p:sp>
            <p:nvSpPr>
              <p:cNvPr name="Freeform 4" id="4"/>
              <p:cNvSpPr/>
              <p:nvPr/>
            </p:nvSpPr>
            <p:spPr>
              <a:xfrm flipH="false" flipV="false" rot="0">
                <a:off x="0" y="0"/>
                <a:ext cx="787566" cy="618261"/>
              </a:xfrm>
              <a:custGeom>
                <a:avLst/>
                <a:gdLst/>
                <a:ahLst/>
                <a:cxnLst/>
                <a:rect r="r" b="b" t="t" l="l"/>
                <a:pathLst>
                  <a:path h="618261" w="787566">
                    <a:moveTo>
                      <a:pt x="0" y="0"/>
                    </a:moveTo>
                    <a:lnTo>
                      <a:pt x="787566" y="0"/>
                    </a:lnTo>
                    <a:lnTo>
                      <a:pt x="787566" y="618261"/>
                    </a:lnTo>
                    <a:lnTo>
                      <a:pt x="0" y="618261"/>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65636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46424"/>
              <a:ext cx="1828278" cy="719705"/>
            </a:xfrm>
            <a:prstGeom prst="rect">
              <a:avLst/>
            </a:prstGeom>
          </p:spPr>
          <p:txBody>
            <a:bodyPr anchor="t" rtlCol="false" tIns="0" lIns="0" bIns="0" rIns="0">
              <a:spAutoFit/>
            </a:bodyPr>
            <a:lstStyle/>
            <a:p>
              <a:pPr algn="ctr" marL="0" indent="0" lvl="0">
                <a:lnSpc>
                  <a:spcPts val="3898"/>
                </a:lnSpc>
              </a:pPr>
              <a:r>
                <a:rPr lang="en-US" sz="3978" spc="-254">
                  <a:solidFill>
                    <a:srgbClr val="FFFFFF"/>
                  </a:solidFill>
                  <a:latin typeface="Bricolage Grotesque"/>
                  <a:ea typeface="Bricolage Grotesque"/>
                  <a:cs typeface="Bricolage Grotesque"/>
                  <a:sym typeface="Bricolage Grotesque"/>
                </a:rPr>
                <a:t>04</a:t>
              </a:r>
            </a:p>
          </p:txBody>
        </p:sp>
      </p:grpSp>
      <p:grpSp>
        <p:nvGrpSpPr>
          <p:cNvPr name="Group 7" id="7"/>
          <p:cNvGrpSpPr/>
          <p:nvPr/>
        </p:nvGrpSpPr>
        <p:grpSpPr>
          <a:xfrm rot="0">
            <a:off x="5536445" y="2779355"/>
            <a:ext cx="7215109" cy="379246"/>
            <a:chOff x="0" y="0"/>
            <a:chExt cx="9620146" cy="505662"/>
          </a:xfrm>
        </p:grpSpPr>
        <p:sp>
          <p:nvSpPr>
            <p:cNvPr name="TextBox 8" id="8"/>
            <p:cNvSpPr txBox="true"/>
            <p:nvPr/>
          </p:nvSpPr>
          <p:spPr>
            <a:xfrm rot="0">
              <a:off x="0" y="186068"/>
              <a:ext cx="9403826" cy="319594"/>
            </a:xfrm>
            <a:prstGeom prst="rect">
              <a:avLst/>
            </a:prstGeom>
          </p:spPr>
          <p:txBody>
            <a:bodyPr anchor="t" rtlCol="false" tIns="0" lIns="0" bIns="0" rIns="0">
              <a:spAutoFit/>
            </a:bodyPr>
            <a:lstStyle/>
            <a:p>
              <a:pPr algn="l" marL="0" indent="0" lvl="0">
                <a:lnSpc>
                  <a:spcPts val="2013"/>
                </a:lnSpc>
              </a:pPr>
              <a:r>
                <a:rPr lang="en-US" b="true" sz="1438" spc="-35">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END-TO-END DATA ANALYTICS PIPELINE FROM RAW DATA TO BUSINESS INSIGHTS</a:t>
              </a:r>
            </a:p>
          </p:txBody>
        </p:sp>
        <p:sp>
          <p:nvSpPr>
            <p:cNvPr name="Freeform 9" id="9"/>
            <p:cNvSpPr/>
            <p:nvPr/>
          </p:nvSpPr>
          <p:spPr>
            <a:xfrm flipH="false" flipV="false" rot="-8687136">
              <a:off x="9303126"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0" id="10"/>
          <p:cNvSpPr txBox="true"/>
          <p:nvPr/>
        </p:nvSpPr>
        <p:spPr>
          <a:xfrm rot="0">
            <a:off x="3363658" y="1247968"/>
            <a:ext cx="11560683" cy="1273720"/>
          </a:xfrm>
          <a:prstGeom prst="rect">
            <a:avLst/>
          </a:prstGeom>
        </p:spPr>
        <p:txBody>
          <a:bodyPr anchor="t" rtlCol="false" tIns="0" lIns="0" bIns="0" rIns="0">
            <a:spAutoFit/>
          </a:bodyPr>
          <a:lstStyle/>
          <a:p>
            <a:pPr algn="ctr"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Project Workflow</a:t>
            </a:r>
          </a:p>
        </p:txBody>
      </p:sp>
      <p:grpSp>
        <p:nvGrpSpPr>
          <p:cNvPr name="Group 11" id="11"/>
          <p:cNvGrpSpPr/>
          <p:nvPr/>
        </p:nvGrpSpPr>
        <p:grpSpPr>
          <a:xfrm rot="0">
            <a:off x="2731310" y="3878731"/>
            <a:ext cx="3213033" cy="5379569"/>
            <a:chOff x="0" y="0"/>
            <a:chExt cx="1387961" cy="2323857"/>
          </a:xfrm>
        </p:grpSpPr>
        <p:sp>
          <p:nvSpPr>
            <p:cNvPr name="Freeform 12" id="12"/>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2B42A8"/>
            </a:solidFill>
          </p:spPr>
        </p:sp>
        <p:sp>
          <p:nvSpPr>
            <p:cNvPr name="TextBox 13" id="13"/>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4" id="14"/>
          <p:cNvGrpSpPr/>
          <p:nvPr/>
        </p:nvGrpSpPr>
        <p:grpSpPr>
          <a:xfrm rot="0">
            <a:off x="5935426" y="3878731"/>
            <a:ext cx="3213033" cy="5379569"/>
            <a:chOff x="0" y="0"/>
            <a:chExt cx="1387961" cy="2323857"/>
          </a:xfrm>
        </p:grpSpPr>
        <p:sp>
          <p:nvSpPr>
            <p:cNvPr name="Freeform 15" id="15"/>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3A58E4"/>
            </a:solidFill>
          </p:spPr>
        </p:sp>
        <p:sp>
          <p:nvSpPr>
            <p:cNvPr name="TextBox 16" id="16"/>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7" id="17"/>
          <p:cNvGrpSpPr/>
          <p:nvPr/>
        </p:nvGrpSpPr>
        <p:grpSpPr>
          <a:xfrm rot="0">
            <a:off x="9139541" y="3878731"/>
            <a:ext cx="3213033" cy="5379569"/>
            <a:chOff x="0" y="0"/>
            <a:chExt cx="1387961" cy="2323857"/>
          </a:xfrm>
        </p:grpSpPr>
        <p:sp>
          <p:nvSpPr>
            <p:cNvPr name="Freeform 18" id="18"/>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6984FE"/>
            </a:solidFill>
          </p:spPr>
        </p:sp>
        <p:sp>
          <p:nvSpPr>
            <p:cNvPr name="TextBox 19" id="19"/>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0" id="20"/>
          <p:cNvGrpSpPr/>
          <p:nvPr/>
        </p:nvGrpSpPr>
        <p:grpSpPr>
          <a:xfrm rot="0">
            <a:off x="12343657" y="3878731"/>
            <a:ext cx="3213033" cy="5379569"/>
            <a:chOff x="0" y="0"/>
            <a:chExt cx="1387961" cy="2323857"/>
          </a:xfrm>
        </p:grpSpPr>
        <p:sp>
          <p:nvSpPr>
            <p:cNvPr name="Freeform 21" id="21"/>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9AADFF"/>
            </a:solidFill>
          </p:spPr>
        </p:sp>
        <p:sp>
          <p:nvSpPr>
            <p:cNvPr name="TextBox 22" id="22"/>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3" id="23"/>
          <p:cNvGrpSpPr/>
          <p:nvPr/>
        </p:nvGrpSpPr>
        <p:grpSpPr>
          <a:xfrm rot="5400000">
            <a:off x="2595745" y="7780405"/>
            <a:ext cx="622999" cy="351870"/>
            <a:chOff x="0" y="0"/>
            <a:chExt cx="1387983" cy="784032"/>
          </a:xfrm>
        </p:grpSpPr>
        <p:sp>
          <p:nvSpPr>
            <p:cNvPr name="Freeform 24" id="24"/>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AFBEFF"/>
            </a:solidFill>
          </p:spPr>
        </p:sp>
        <p:sp>
          <p:nvSpPr>
            <p:cNvPr name="TextBox 25" id="25"/>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6" id="26"/>
          <p:cNvGrpSpPr/>
          <p:nvPr/>
        </p:nvGrpSpPr>
        <p:grpSpPr>
          <a:xfrm rot="5400000">
            <a:off x="5780811" y="5004756"/>
            <a:ext cx="622999" cy="351870"/>
            <a:chOff x="0" y="0"/>
            <a:chExt cx="1387983" cy="784032"/>
          </a:xfrm>
        </p:grpSpPr>
        <p:sp>
          <p:nvSpPr>
            <p:cNvPr name="Freeform 27" id="27"/>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2B42A8"/>
            </a:solidFill>
          </p:spPr>
        </p:sp>
        <p:sp>
          <p:nvSpPr>
            <p:cNvPr name="TextBox 28" id="28"/>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9" id="29"/>
          <p:cNvGrpSpPr/>
          <p:nvPr/>
        </p:nvGrpSpPr>
        <p:grpSpPr>
          <a:xfrm rot="5400000">
            <a:off x="8984927" y="7780405"/>
            <a:ext cx="622999" cy="351870"/>
            <a:chOff x="0" y="0"/>
            <a:chExt cx="1387983" cy="784032"/>
          </a:xfrm>
        </p:grpSpPr>
        <p:sp>
          <p:nvSpPr>
            <p:cNvPr name="Freeform 30" id="30"/>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3A58E4"/>
            </a:solidFill>
          </p:spPr>
        </p:sp>
        <p:sp>
          <p:nvSpPr>
            <p:cNvPr name="TextBox 31" id="31"/>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2" id="32"/>
          <p:cNvGrpSpPr/>
          <p:nvPr/>
        </p:nvGrpSpPr>
        <p:grpSpPr>
          <a:xfrm rot="5400000">
            <a:off x="12179518" y="5004756"/>
            <a:ext cx="622999" cy="351870"/>
            <a:chOff x="0" y="0"/>
            <a:chExt cx="1387983" cy="784032"/>
          </a:xfrm>
        </p:grpSpPr>
        <p:sp>
          <p:nvSpPr>
            <p:cNvPr name="Freeform 33" id="33"/>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6984FE"/>
            </a:solidFill>
          </p:spPr>
        </p:sp>
        <p:sp>
          <p:nvSpPr>
            <p:cNvPr name="TextBox 34" id="34"/>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5" id="35"/>
          <p:cNvGrpSpPr/>
          <p:nvPr/>
        </p:nvGrpSpPr>
        <p:grpSpPr>
          <a:xfrm rot="0">
            <a:off x="3269864" y="4527055"/>
            <a:ext cx="2135924" cy="1757242"/>
            <a:chOff x="0" y="0"/>
            <a:chExt cx="2847898" cy="2342990"/>
          </a:xfrm>
        </p:grpSpPr>
        <p:sp>
          <p:nvSpPr>
            <p:cNvPr name="TextBox 36" id="36"/>
            <p:cNvSpPr txBox="true"/>
            <p:nvPr/>
          </p:nvSpPr>
          <p:spPr>
            <a:xfrm rot="0">
              <a:off x="0" y="-19050"/>
              <a:ext cx="2847898" cy="606524"/>
            </a:xfrm>
            <a:prstGeom prst="rect">
              <a:avLst/>
            </a:prstGeom>
          </p:spPr>
          <p:txBody>
            <a:bodyPr anchor="t" rtlCol="false" tIns="0" lIns="0" bIns="0" rIns="0">
              <a:spAutoFit/>
            </a:bodyPr>
            <a:lstStyle/>
            <a:p>
              <a:pPr algn="just" marL="0" indent="0" lvl="0">
                <a:lnSpc>
                  <a:spcPts val="1872"/>
                </a:lnSpc>
              </a:pPr>
              <a:r>
                <a:rPr lang="en-US" b="true" sz="1451" spc="-4">
                  <a:solidFill>
                    <a:srgbClr val="FFFFFF"/>
                  </a:solidFill>
                  <a:latin typeface="Poppins Bold"/>
                  <a:ea typeface="Poppins Bold"/>
                  <a:cs typeface="Poppins Bold"/>
                  <a:sym typeface="Poppins Bold"/>
                </a:rPr>
                <a:t>DATA</a:t>
              </a:r>
            </a:p>
            <a:p>
              <a:pPr algn="just" marL="0" indent="0" lvl="0">
                <a:lnSpc>
                  <a:spcPts val="1872"/>
                </a:lnSpc>
              </a:pPr>
              <a:r>
                <a:rPr lang="en-US" b="true" sz="1451" spc="-4">
                  <a:solidFill>
                    <a:srgbClr val="FFFFFF"/>
                  </a:solidFill>
                  <a:latin typeface="Poppins Bold"/>
                  <a:ea typeface="Poppins Bold"/>
                  <a:cs typeface="Poppins Bold"/>
                  <a:sym typeface="Poppins Bold"/>
                </a:rPr>
                <a:t>PREPARATION</a:t>
              </a:r>
            </a:p>
          </p:txBody>
        </p:sp>
        <p:sp>
          <p:nvSpPr>
            <p:cNvPr name="TextBox 37" id="37"/>
            <p:cNvSpPr txBox="true"/>
            <p:nvPr/>
          </p:nvSpPr>
          <p:spPr>
            <a:xfrm rot="0">
              <a:off x="0" y="874845"/>
              <a:ext cx="2847898" cy="1468145"/>
            </a:xfrm>
            <a:prstGeom prst="rect">
              <a:avLst/>
            </a:prstGeom>
          </p:spPr>
          <p:txBody>
            <a:bodyPr anchor="t" rtlCol="false" tIns="0" lIns="0" bIns="0" rIns="0">
              <a:spAutoFit/>
            </a:bodyPr>
            <a:lstStyle/>
            <a:p>
              <a:pPr algn="l" marL="0" indent="0" lvl="0">
                <a:lnSpc>
                  <a:spcPts val="1771"/>
                </a:lnSpc>
              </a:pPr>
              <a:r>
                <a:rPr lang="en-US" sz="1373" spc="-4">
                  <a:solidFill>
                    <a:srgbClr val="FFFFFF"/>
                  </a:solidFill>
                  <a:latin typeface="Poppins"/>
                  <a:ea typeface="Poppins"/>
                  <a:cs typeface="Poppins"/>
                  <a:sym typeface="Poppins"/>
                </a:rPr>
                <a:t>Raw dataset ingestion, handling missing values, removing duplicates, and standardizing formats.</a:t>
              </a:r>
            </a:p>
          </p:txBody>
        </p:sp>
      </p:grpSp>
      <p:sp>
        <p:nvSpPr>
          <p:cNvPr name="TextBox 38" id="38"/>
          <p:cNvSpPr txBox="true"/>
          <p:nvPr/>
        </p:nvSpPr>
        <p:spPr>
          <a:xfrm rot="0">
            <a:off x="4470562" y="7518972"/>
            <a:ext cx="1445813"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01</a:t>
            </a:r>
          </a:p>
        </p:txBody>
      </p:sp>
      <p:grpSp>
        <p:nvGrpSpPr>
          <p:cNvPr name="Group 39" id="39"/>
          <p:cNvGrpSpPr/>
          <p:nvPr/>
        </p:nvGrpSpPr>
        <p:grpSpPr>
          <a:xfrm rot="0">
            <a:off x="6473980" y="7281173"/>
            <a:ext cx="2135924" cy="1309567"/>
            <a:chOff x="0" y="0"/>
            <a:chExt cx="2847898" cy="1746090"/>
          </a:xfrm>
        </p:grpSpPr>
        <p:sp>
          <p:nvSpPr>
            <p:cNvPr name="TextBox 40" id="40"/>
            <p:cNvSpPr txBox="true"/>
            <p:nvPr/>
          </p:nvSpPr>
          <p:spPr>
            <a:xfrm rot="0">
              <a:off x="0" y="-19050"/>
              <a:ext cx="2847898" cy="301724"/>
            </a:xfrm>
            <a:prstGeom prst="rect">
              <a:avLst/>
            </a:prstGeom>
          </p:spPr>
          <p:txBody>
            <a:bodyPr anchor="t" rtlCol="false" tIns="0" lIns="0" bIns="0" rIns="0">
              <a:spAutoFit/>
            </a:bodyPr>
            <a:lstStyle/>
            <a:p>
              <a:pPr algn="just" marL="0" indent="0" lvl="0">
                <a:lnSpc>
                  <a:spcPts val="1872"/>
                </a:lnSpc>
              </a:pPr>
              <a:r>
                <a:rPr lang="en-US" b="true" sz="1451" spc="-4">
                  <a:solidFill>
                    <a:srgbClr val="FFFFFF"/>
                  </a:solidFill>
                  <a:latin typeface="Poppins Bold"/>
                  <a:ea typeface="Poppins Bold"/>
                  <a:cs typeface="Poppins Bold"/>
                  <a:sym typeface="Poppins Bold"/>
                </a:rPr>
                <a:t>FEATURE ENGINEERING</a:t>
              </a:r>
            </a:p>
          </p:txBody>
        </p:sp>
        <p:sp>
          <p:nvSpPr>
            <p:cNvPr name="TextBox 41" id="41"/>
            <p:cNvSpPr txBox="true"/>
            <p:nvPr/>
          </p:nvSpPr>
          <p:spPr>
            <a:xfrm rot="0">
              <a:off x="0" y="570045"/>
              <a:ext cx="2847898" cy="1176045"/>
            </a:xfrm>
            <a:prstGeom prst="rect">
              <a:avLst/>
            </a:prstGeom>
          </p:spPr>
          <p:txBody>
            <a:bodyPr anchor="t" rtlCol="false" tIns="0" lIns="0" bIns="0" rIns="0">
              <a:spAutoFit/>
            </a:bodyPr>
            <a:lstStyle/>
            <a:p>
              <a:pPr algn="l" marL="0" indent="0" lvl="0">
                <a:lnSpc>
                  <a:spcPts val="1771"/>
                </a:lnSpc>
              </a:pPr>
              <a:r>
                <a:rPr lang="en-US" sz="1373" spc="-4">
                  <a:solidFill>
                    <a:srgbClr val="FFFFFF"/>
                  </a:solidFill>
                  <a:latin typeface="Poppins"/>
                  <a:ea typeface="Poppins"/>
                  <a:cs typeface="Poppins"/>
                  <a:sym typeface="Poppins"/>
                </a:rPr>
                <a:t>Creating meaningful variables using Python, Pandas, and NumPy for deeper analysis.</a:t>
              </a:r>
            </a:p>
          </p:txBody>
        </p:sp>
      </p:grpSp>
      <p:sp>
        <p:nvSpPr>
          <p:cNvPr name="TextBox 42" id="42"/>
          <p:cNvSpPr txBox="true"/>
          <p:nvPr/>
        </p:nvSpPr>
        <p:spPr>
          <a:xfrm rot="0">
            <a:off x="7425798" y="4070729"/>
            <a:ext cx="1578549"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02</a:t>
            </a:r>
          </a:p>
        </p:txBody>
      </p:sp>
      <p:grpSp>
        <p:nvGrpSpPr>
          <p:cNvPr name="Group 43" id="43"/>
          <p:cNvGrpSpPr/>
          <p:nvPr/>
        </p:nvGrpSpPr>
        <p:grpSpPr>
          <a:xfrm rot="0">
            <a:off x="9681912" y="4755655"/>
            <a:ext cx="2135924" cy="1528642"/>
            <a:chOff x="0" y="0"/>
            <a:chExt cx="2847898" cy="2038190"/>
          </a:xfrm>
        </p:grpSpPr>
        <p:sp>
          <p:nvSpPr>
            <p:cNvPr name="TextBox 44" id="44"/>
            <p:cNvSpPr txBox="true"/>
            <p:nvPr/>
          </p:nvSpPr>
          <p:spPr>
            <a:xfrm rot="0">
              <a:off x="0" y="-19050"/>
              <a:ext cx="2847898" cy="301724"/>
            </a:xfrm>
            <a:prstGeom prst="rect">
              <a:avLst/>
            </a:prstGeom>
          </p:spPr>
          <p:txBody>
            <a:bodyPr anchor="t" rtlCol="false" tIns="0" lIns="0" bIns="0" rIns="0">
              <a:spAutoFit/>
            </a:bodyPr>
            <a:lstStyle/>
            <a:p>
              <a:pPr algn="just" marL="0" indent="0" lvl="0">
                <a:lnSpc>
                  <a:spcPts val="1872"/>
                </a:lnSpc>
              </a:pPr>
              <a:r>
                <a:rPr lang="en-US" b="true" sz="1451" spc="-4">
                  <a:solidFill>
                    <a:srgbClr val="FFFFFF"/>
                  </a:solidFill>
                  <a:latin typeface="Poppins Bold"/>
                  <a:ea typeface="Poppins Bold"/>
                  <a:cs typeface="Poppins Bold"/>
                  <a:sym typeface="Poppins Bold"/>
                </a:rPr>
                <a:t>SQL ANALYSIS</a:t>
              </a:r>
            </a:p>
          </p:txBody>
        </p:sp>
        <p:sp>
          <p:nvSpPr>
            <p:cNvPr name="TextBox 45" id="45"/>
            <p:cNvSpPr txBox="true"/>
            <p:nvPr/>
          </p:nvSpPr>
          <p:spPr>
            <a:xfrm rot="0">
              <a:off x="0" y="570045"/>
              <a:ext cx="2847898" cy="1468145"/>
            </a:xfrm>
            <a:prstGeom prst="rect">
              <a:avLst/>
            </a:prstGeom>
          </p:spPr>
          <p:txBody>
            <a:bodyPr anchor="t" rtlCol="false" tIns="0" lIns="0" bIns="0" rIns="0">
              <a:spAutoFit/>
            </a:bodyPr>
            <a:lstStyle/>
            <a:p>
              <a:pPr algn="l" marL="0" indent="0" lvl="0">
                <a:lnSpc>
                  <a:spcPts val="1771"/>
                </a:lnSpc>
              </a:pPr>
              <a:r>
                <a:rPr lang="en-US" sz="1373" spc="-4">
                  <a:solidFill>
                    <a:srgbClr val="FFFFFF"/>
                  </a:solidFill>
                  <a:latin typeface="Poppins"/>
                  <a:ea typeface="Poppins"/>
                  <a:cs typeface="Poppins"/>
                  <a:sym typeface="Poppins"/>
                </a:rPr>
                <a:t>Loading data into PostgreSQL and executing SQL queries for category and revenue analysis.</a:t>
              </a:r>
            </a:p>
          </p:txBody>
        </p:sp>
      </p:grpSp>
      <p:sp>
        <p:nvSpPr>
          <p:cNvPr name="TextBox 46" id="46"/>
          <p:cNvSpPr txBox="true"/>
          <p:nvPr/>
        </p:nvSpPr>
        <p:spPr>
          <a:xfrm rot="0">
            <a:off x="10617138" y="7518972"/>
            <a:ext cx="1711285"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03</a:t>
            </a:r>
          </a:p>
        </p:txBody>
      </p:sp>
      <p:grpSp>
        <p:nvGrpSpPr>
          <p:cNvPr name="Group 47" id="47"/>
          <p:cNvGrpSpPr/>
          <p:nvPr/>
        </p:nvGrpSpPr>
        <p:grpSpPr>
          <a:xfrm rot="0">
            <a:off x="12886027" y="6833498"/>
            <a:ext cx="2135924" cy="1757242"/>
            <a:chOff x="0" y="0"/>
            <a:chExt cx="2847898" cy="2342990"/>
          </a:xfrm>
        </p:grpSpPr>
        <p:sp>
          <p:nvSpPr>
            <p:cNvPr name="TextBox 48" id="48"/>
            <p:cNvSpPr txBox="true"/>
            <p:nvPr/>
          </p:nvSpPr>
          <p:spPr>
            <a:xfrm rot="0">
              <a:off x="0" y="-19050"/>
              <a:ext cx="2847898" cy="606524"/>
            </a:xfrm>
            <a:prstGeom prst="rect">
              <a:avLst/>
            </a:prstGeom>
          </p:spPr>
          <p:txBody>
            <a:bodyPr anchor="t" rtlCol="false" tIns="0" lIns="0" bIns="0" rIns="0">
              <a:spAutoFit/>
            </a:bodyPr>
            <a:lstStyle/>
            <a:p>
              <a:pPr algn="just" marL="0" indent="0" lvl="0">
                <a:lnSpc>
                  <a:spcPts val="1872"/>
                </a:lnSpc>
              </a:pPr>
              <a:r>
                <a:rPr lang="en-US" b="true" sz="1451" spc="-4">
                  <a:solidFill>
                    <a:srgbClr val="FFFFFF"/>
                  </a:solidFill>
                  <a:latin typeface="Poppins Bold"/>
                  <a:ea typeface="Poppins Bold"/>
                  <a:cs typeface="Poppins Bold"/>
                  <a:sym typeface="Poppins Bold"/>
                </a:rPr>
                <a:t>POWER BI</a:t>
              </a:r>
            </a:p>
            <a:p>
              <a:pPr algn="just" marL="0" indent="0" lvl="0">
                <a:lnSpc>
                  <a:spcPts val="1872"/>
                </a:lnSpc>
              </a:pPr>
              <a:r>
                <a:rPr lang="en-US" b="true" sz="1451" spc="-4">
                  <a:solidFill>
                    <a:srgbClr val="FFFFFF"/>
                  </a:solidFill>
                  <a:latin typeface="Poppins Bold"/>
                  <a:ea typeface="Poppins Bold"/>
                  <a:cs typeface="Poppins Bold"/>
                  <a:sym typeface="Poppins Bold"/>
                </a:rPr>
                <a:t>DASHBOARD</a:t>
              </a:r>
            </a:p>
          </p:txBody>
        </p:sp>
        <p:sp>
          <p:nvSpPr>
            <p:cNvPr name="TextBox 49" id="49"/>
            <p:cNvSpPr txBox="true"/>
            <p:nvPr/>
          </p:nvSpPr>
          <p:spPr>
            <a:xfrm rot="0">
              <a:off x="0" y="874845"/>
              <a:ext cx="2847898" cy="1468145"/>
            </a:xfrm>
            <a:prstGeom prst="rect">
              <a:avLst/>
            </a:prstGeom>
          </p:spPr>
          <p:txBody>
            <a:bodyPr anchor="t" rtlCol="false" tIns="0" lIns="0" bIns="0" rIns="0">
              <a:spAutoFit/>
            </a:bodyPr>
            <a:lstStyle/>
            <a:p>
              <a:pPr algn="l" marL="0" indent="0" lvl="0">
                <a:lnSpc>
                  <a:spcPts val="1771"/>
                </a:lnSpc>
              </a:pPr>
              <a:r>
                <a:rPr lang="en-US" sz="1373" spc="-4">
                  <a:solidFill>
                    <a:srgbClr val="FFFFFF"/>
                  </a:solidFill>
                  <a:latin typeface="Poppins"/>
                  <a:ea typeface="Poppins"/>
                  <a:cs typeface="Poppins"/>
                  <a:sym typeface="Poppins"/>
                </a:rPr>
                <a:t>Building interactive dashboards to visualize KPIs and deliver actionable business insights.</a:t>
              </a:r>
            </a:p>
          </p:txBody>
        </p:sp>
      </p:grpSp>
      <p:sp>
        <p:nvSpPr>
          <p:cNvPr name="TextBox 50" id="50"/>
          <p:cNvSpPr txBox="true"/>
          <p:nvPr/>
        </p:nvSpPr>
        <p:spPr>
          <a:xfrm rot="0">
            <a:off x="13837845" y="4070729"/>
            <a:ext cx="1578549"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525863"/>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028700" y="4191922"/>
            <a:ext cx="7514069" cy="854234"/>
          </a:xfrm>
          <a:prstGeom prst="rect">
            <a:avLst/>
          </a:prstGeom>
        </p:spPr>
        <p:txBody>
          <a:bodyPr anchor="t" rtlCol="false" tIns="0" lIns="0" bIns="0" rIns="0">
            <a:spAutoFit/>
          </a:bodyPr>
          <a:lstStyle/>
          <a:p>
            <a:pPr algn="l" marL="0" indent="0" lvl="0">
              <a:lnSpc>
                <a:spcPts val="3316"/>
              </a:lnSpc>
            </a:pPr>
            <a:r>
              <a:rPr lang="en-US" b="true" sz="2368">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EXPLORATORY ANALYSIS OF CLEANED AND ENGINEERED MARKET PLACE DATA</a:t>
            </a:r>
          </a:p>
        </p:txBody>
      </p:sp>
      <p:sp>
        <p:nvSpPr>
          <p:cNvPr name="Freeform 6" id="6"/>
          <p:cNvSpPr/>
          <p:nvPr/>
        </p:nvSpPr>
        <p:spPr>
          <a:xfrm flipH="false" flipV="false" rot="-8687136">
            <a:off x="4577987" y="4654787"/>
            <a:ext cx="189150" cy="228643"/>
          </a:xfrm>
          <a:custGeom>
            <a:avLst/>
            <a:gdLst/>
            <a:ahLst/>
            <a:cxnLst/>
            <a:rect r="r" b="b" t="t" l="l"/>
            <a:pathLst>
              <a:path h="228643" w="189150">
                <a:moveTo>
                  <a:pt x="0" y="0"/>
                </a:moveTo>
                <a:lnTo>
                  <a:pt x="189150" y="0"/>
                </a:lnTo>
                <a:lnTo>
                  <a:pt x="189150" y="228643"/>
                </a:lnTo>
                <a:lnTo>
                  <a:pt x="0" y="2286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692815" y="129"/>
            <a:ext cx="1849954" cy="1848037"/>
            <a:chOff x="0" y="0"/>
            <a:chExt cx="2466605" cy="2464050"/>
          </a:xfrm>
        </p:grpSpPr>
        <p:grpSp>
          <p:nvGrpSpPr>
            <p:cNvPr name="Group 8" id="8"/>
            <p:cNvGrpSpPr/>
            <p:nvPr/>
          </p:nvGrpSpPr>
          <p:grpSpPr>
            <a:xfrm rot="0">
              <a:off x="0" y="0"/>
              <a:ext cx="2466605" cy="2464050"/>
              <a:chOff x="0" y="0"/>
              <a:chExt cx="787566" cy="786750"/>
            </a:xfrm>
          </p:grpSpPr>
          <p:sp>
            <p:nvSpPr>
              <p:cNvPr name="Freeform 9" id="9"/>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0" id="10"/>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1" id="11"/>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05</a:t>
              </a:r>
            </a:p>
          </p:txBody>
        </p:sp>
      </p:grpSp>
      <p:grpSp>
        <p:nvGrpSpPr>
          <p:cNvPr name="Group 12" id="12"/>
          <p:cNvGrpSpPr/>
          <p:nvPr/>
        </p:nvGrpSpPr>
        <p:grpSpPr>
          <a:xfrm rot="0">
            <a:off x="10630940" y="0"/>
            <a:ext cx="7451928" cy="10287000"/>
            <a:chOff x="0" y="0"/>
            <a:chExt cx="9935904" cy="13716000"/>
          </a:xfrm>
        </p:grpSpPr>
        <p:pic>
          <p:nvPicPr>
            <p:cNvPr name="Picture 13" id="13"/>
            <p:cNvPicPr>
              <a:picLocks noChangeAspect="true"/>
            </p:cNvPicPr>
            <p:nvPr/>
          </p:nvPicPr>
          <p:blipFill>
            <a:blip r:embed="rId4"/>
            <a:stretch>
              <a:fillRect/>
            </a:stretch>
          </p:blipFill>
          <p:spPr>
            <a:xfrm rot="0">
              <a:off x="162459" y="212754"/>
              <a:ext cx="9610986" cy="13290493"/>
            </a:xfrm>
            <a:prstGeom prst="rect">
              <a:avLst/>
            </a:prstGeom>
          </p:spPr>
        </p:pic>
        <p:sp>
          <p:nvSpPr>
            <p:cNvPr name="AutoShape 14" id="14"/>
            <p:cNvSpPr/>
            <p:nvPr/>
          </p:nvSpPr>
          <p:spPr>
            <a:xfrm>
              <a:off x="9923204" y="0"/>
              <a:ext cx="0" cy="13716000"/>
            </a:xfrm>
            <a:prstGeom prst="line">
              <a:avLst/>
            </a:prstGeom>
            <a:ln cap="rnd" w="25400">
              <a:solidFill>
                <a:srgbClr val="3A58E4"/>
              </a:solidFill>
              <a:prstDash val="solid"/>
              <a:headEnd type="none" len="sm" w="sm"/>
              <a:tailEnd type="none" len="sm" w="sm"/>
            </a:ln>
          </p:spPr>
        </p:sp>
      </p:grpSp>
      <p:sp>
        <p:nvSpPr>
          <p:cNvPr name="TextBox 15" id="15"/>
          <p:cNvSpPr txBox="true"/>
          <p:nvPr/>
        </p:nvSpPr>
        <p:spPr>
          <a:xfrm rot="0">
            <a:off x="1256766" y="1455090"/>
            <a:ext cx="5780387" cy="2440828"/>
          </a:xfrm>
          <a:prstGeom prst="rect">
            <a:avLst/>
          </a:prstGeom>
        </p:spPr>
        <p:txBody>
          <a:bodyPr anchor="t" rtlCol="false" tIns="0" lIns="0" bIns="0" rIns="0">
            <a:spAutoFit/>
          </a:bodyPr>
          <a:lstStyle/>
          <a:p>
            <a:pPr algn="l" marL="0" indent="0" lvl="0">
              <a:lnSpc>
                <a:spcPts val="9358"/>
              </a:lnSpc>
            </a:pPr>
            <a:r>
              <a:rPr lang="en-US" sz="9549" spc="-611">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Data Preparation</a:t>
            </a:r>
          </a:p>
        </p:txBody>
      </p:sp>
      <p:sp>
        <p:nvSpPr>
          <p:cNvPr name="TextBox 16" id="16"/>
          <p:cNvSpPr txBox="true"/>
          <p:nvPr/>
        </p:nvSpPr>
        <p:spPr>
          <a:xfrm rot="0">
            <a:off x="1028700" y="5318276"/>
            <a:ext cx="7514069" cy="3557695"/>
          </a:xfrm>
          <a:prstGeom prst="rect">
            <a:avLst/>
          </a:prstGeom>
        </p:spPr>
        <p:txBody>
          <a:bodyPr anchor="t" rtlCol="false" tIns="0" lIns="0" bIns="0" rIns="0">
            <a:spAutoFit/>
          </a:bodyPr>
          <a:lstStyle/>
          <a:p>
            <a:pPr algn="just" marL="0" indent="0" lvl="0">
              <a:lnSpc>
                <a:spcPts val="2356"/>
              </a:lnSpc>
            </a:pPr>
            <a:r>
              <a:rPr lang="en-US" sz="1683" spc="-5">
                <a:solidFill>
                  <a:srgbClr val="3A58E4"/>
                </a:solidFill>
                <a:latin typeface="Poppins"/>
                <a:ea typeface="Poppins"/>
                <a:cs typeface="Poppins"/>
                <a:sym typeface="Poppins"/>
              </a:rPr>
              <a:t>Data Cleaning: Removed duplicate entries and handled missing values across app name, category, rating, size, installs, and price fields to ensure dataset integrity.</a:t>
            </a:r>
          </a:p>
          <a:p>
            <a:pPr algn="just" marL="0" indent="0" lvl="0">
              <a:lnSpc>
                <a:spcPts val="2356"/>
              </a:lnSpc>
            </a:pPr>
            <a:r>
              <a:rPr lang="en-US" sz="1683" spc="-5">
                <a:solidFill>
                  <a:srgbClr val="3A58E4"/>
                </a:solidFill>
                <a:latin typeface="Poppins"/>
                <a:ea typeface="Poppins"/>
                <a:cs typeface="Poppins"/>
                <a:sym typeface="Poppins"/>
              </a:rPr>
              <a:t>Feature Engineering: Created meaningful derived variables including install tiers, revenue estimates, and engagement ratios to enable deeper analytical segmentation.</a:t>
            </a:r>
          </a:p>
          <a:p>
            <a:pPr algn="just" marL="0" indent="0" lvl="0">
              <a:lnSpc>
                <a:spcPts val="2356"/>
              </a:lnSpc>
            </a:pPr>
            <a:r>
              <a:rPr lang="en-US" sz="1683" spc="-5">
                <a:solidFill>
                  <a:srgbClr val="3A58E4"/>
                </a:solidFill>
                <a:latin typeface="Poppins"/>
                <a:ea typeface="Poppins"/>
                <a:cs typeface="Poppins"/>
                <a:sym typeface="Poppins"/>
              </a:rPr>
              <a:t>Exploratory Data Analysis: Generated summary statistics and distribution analysis across categories, revealing skewed install distributions and concentration in dominant app categories.</a:t>
            </a:r>
          </a:p>
          <a:p>
            <a:pPr algn="just" marL="0" indent="0" lvl="0">
              <a:lnSpc>
                <a:spcPts val="2356"/>
              </a:lnSpc>
            </a:pPr>
            <a:r>
              <a:rPr lang="en-US" sz="1683" spc="-5">
                <a:solidFill>
                  <a:srgbClr val="3A58E4"/>
                </a:solidFill>
                <a:latin typeface="Poppins"/>
                <a:ea typeface="Poppins"/>
                <a:cs typeface="Poppins"/>
                <a:sym typeface="Poppins"/>
              </a:rPr>
              <a:t>Key Finding: A small subset of categories accounts for the majority of app counts and installs, while a long tail of niche categories holds minimal market presence.</a:t>
            </a:r>
          </a:p>
        </p:txBody>
      </p:sp>
      <p:sp>
        <p:nvSpPr>
          <p:cNvPr name="Freeform 17" id="17"/>
          <p:cNvSpPr/>
          <p:nvPr/>
        </p:nvSpPr>
        <p:spPr>
          <a:xfrm flipH="false" flipV="false" rot="0">
            <a:off x="9455662" y="7848788"/>
            <a:ext cx="2479908" cy="482455"/>
          </a:xfrm>
          <a:custGeom>
            <a:avLst/>
            <a:gdLst/>
            <a:ahLst/>
            <a:cxnLst/>
            <a:rect r="r" b="b" t="t" l="l"/>
            <a:pathLst>
              <a:path h="482455" w="2479908">
                <a:moveTo>
                  <a:pt x="0" y="0"/>
                </a:moveTo>
                <a:lnTo>
                  <a:pt x="2479908" y="0"/>
                </a:lnTo>
                <a:lnTo>
                  <a:pt x="2479908" y="482455"/>
                </a:lnTo>
                <a:lnTo>
                  <a:pt x="0" y="482455"/>
                </a:lnTo>
                <a:lnTo>
                  <a:pt x="0" y="0"/>
                </a:lnTo>
                <a:close/>
              </a:path>
            </a:pathLst>
          </a:custGeom>
          <a:blipFill>
            <a:blip r:embed="rId5"/>
            <a:stretch>
              <a:fillRect l="0" t="0" r="0" b="0"/>
            </a:stretch>
          </a:blipFill>
        </p:spPr>
      </p:sp>
      <p:grpSp>
        <p:nvGrpSpPr>
          <p:cNvPr name="Group 18" id="18"/>
          <p:cNvGrpSpPr/>
          <p:nvPr/>
        </p:nvGrpSpPr>
        <p:grpSpPr>
          <a:xfrm rot="0">
            <a:off x="9545918" y="5831999"/>
            <a:ext cx="2270445" cy="2267600"/>
            <a:chOff x="0" y="0"/>
            <a:chExt cx="567580" cy="566868"/>
          </a:xfrm>
        </p:grpSpPr>
        <p:sp>
          <p:nvSpPr>
            <p:cNvPr name="Freeform 19" id="19"/>
            <p:cNvSpPr/>
            <p:nvPr/>
          </p:nvSpPr>
          <p:spPr>
            <a:xfrm flipH="false" flipV="false" rot="0">
              <a:off x="0" y="0"/>
              <a:ext cx="567580" cy="566868"/>
            </a:xfrm>
            <a:custGeom>
              <a:avLst/>
              <a:gdLst/>
              <a:ahLst/>
              <a:cxnLst/>
              <a:rect r="r" b="b" t="t" l="l"/>
              <a:pathLst>
                <a:path h="566868" w="567580">
                  <a:moveTo>
                    <a:pt x="153444" y="0"/>
                  </a:moveTo>
                  <a:lnTo>
                    <a:pt x="414136" y="0"/>
                  </a:lnTo>
                  <a:cubicBezTo>
                    <a:pt x="498880" y="0"/>
                    <a:pt x="567580" y="68699"/>
                    <a:pt x="567580" y="153444"/>
                  </a:cubicBezTo>
                  <a:lnTo>
                    <a:pt x="567580" y="413424"/>
                  </a:lnTo>
                  <a:cubicBezTo>
                    <a:pt x="567580" y="454120"/>
                    <a:pt x="551413" y="493149"/>
                    <a:pt x="522637" y="521926"/>
                  </a:cubicBezTo>
                  <a:cubicBezTo>
                    <a:pt x="493861" y="550702"/>
                    <a:pt x="454831" y="566868"/>
                    <a:pt x="414136" y="566868"/>
                  </a:cubicBezTo>
                  <a:lnTo>
                    <a:pt x="153444" y="566868"/>
                  </a:lnTo>
                  <a:cubicBezTo>
                    <a:pt x="112748" y="566868"/>
                    <a:pt x="73719" y="550702"/>
                    <a:pt x="44943" y="521926"/>
                  </a:cubicBezTo>
                  <a:cubicBezTo>
                    <a:pt x="16166" y="493149"/>
                    <a:pt x="0" y="454120"/>
                    <a:pt x="0" y="413424"/>
                  </a:cubicBezTo>
                  <a:lnTo>
                    <a:pt x="0" y="153444"/>
                  </a:lnTo>
                  <a:cubicBezTo>
                    <a:pt x="0" y="112748"/>
                    <a:pt x="16166" y="73719"/>
                    <a:pt x="44943" y="44943"/>
                  </a:cubicBezTo>
                  <a:cubicBezTo>
                    <a:pt x="73719" y="16166"/>
                    <a:pt x="112748" y="0"/>
                    <a:pt x="153444"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20" id="20"/>
            <p:cNvSpPr txBox="true"/>
            <p:nvPr/>
          </p:nvSpPr>
          <p:spPr>
            <a:xfrm>
              <a:off x="0" y="28575"/>
              <a:ext cx="567580" cy="538293"/>
            </a:xfrm>
            <a:prstGeom prst="rect">
              <a:avLst/>
            </a:prstGeom>
          </p:spPr>
          <p:txBody>
            <a:bodyPr anchor="ctr" rtlCol="false" tIns="51111" lIns="51111" bIns="51111" rIns="51111"/>
            <a:lstStyle/>
            <a:p>
              <a:pPr algn="ctr" marL="0" indent="0" lvl="0">
                <a:lnSpc>
                  <a:spcPts val="2460"/>
                </a:lnSpc>
              </a:pPr>
            </a:p>
          </p:txBody>
        </p:sp>
      </p:grpSp>
      <p:sp>
        <p:nvSpPr>
          <p:cNvPr name="TextBox 21" id="21"/>
          <p:cNvSpPr txBox="true"/>
          <p:nvPr/>
        </p:nvSpPr>
        <p:spPr>
          <a:xfrm rot="0">
            <a:off x="9904370" y="6340300"/>
            <a:ext cx="1582493" cy="516979"/>
          </a:xfrm>
          <a:prstGeom prst="rect">
            <a:avLst/>
          </a:prstGeom>
        </p:spPr>
        <p:txBody>
          <a:bodyPr anchor="t" rtlCol="false" tIns="0" lIns="0" bIns="0" rIns="0">
            <a:spAutoFit/>
          </a:bodyPr>
          <a:lstStyle/>
          <a:p>
            <a:pPr algn="ctr" marL="0" indent="0" lvl="0">
              <a:lnSpc>
                <a:spcPts val="3876"/>
              </a:lnSpc>
            </a:pPr>
            <a:r>
              <a:rPr lang="en-US" b="true" sz="3915" spc="-117">
                <a:solidFill>
                  <a:srgbClr val="FFFFFF"/>
                </a:solidFill>
                <a:latin typeface="Bricolage Grotesque Bold"/>
                <a:ea typeface="Bricolage Grotesque Bold"/>
                <a:cs typeface="Bricolage Grotesque Bold"/>
                <a:sym typeface="Bricolage Grotesque Bold"/>
              </a:rPr>
              <a:t>10K+</a:t>
            </a:r>
          </a:p>
        </p:txBody>
      </p:sp>
      <p:sp>
        <p:nvSpPr>
          <p:cNvPr name="TextBox 22" id="22"/>
          <p:cNvSpPr txBox="true"/>
          <p:nvPr/>
        </p:nvSpPr>
        <p:spPr>
          <a:xfrm rot="0">
            <a:off x="10056286" y="7239397"/>
            <a:ext cx="1278661" cy="420160"/>
          </a:xfrm>
          <a:prstGeom prst="rect">
            <a:avLst/>
          </a:prstGeom>
        </p:spPr>
        <p:txBody>
          <a:bodyPr anchor="t" rtlCol="false" tIns="0" lIns="0" bIns="0" rIns="0">
            <a:spAutoFit/>
          </a:bodyPr>
          <a:lstStyle/>
          <a:p>
            <a:pPr algn="ctr" marL="0" indent="0" lvl="0">
              <a:lnSpc>
                <a:spcPts val="1679"/>
              </a:lnSpc>
            </a:pPr>
            <a:r>
              <a:rPr lang="en-US" sz="1199" spc="-29">
                <a:solidFill>
                  <a:srgbClr val="FFFFFF"/>
                </a:solidFill>
                <a:latin typeface="Poppins"/>
                <a:ea typeface="Poppins"/>
                <a:cs typeface="Poppins"/>
                <a:sym typeface="Poppins"/>
              </a:rPr>
              <a:t>APPS CLEANED &amp; ANALYZED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938179" cy="10287000"/>
            <a:chOff x="0" y="0"/>
            <a:chExt cx="1827339" cy="2709333"/>
          </a:xfrm>
        </p:grpSpPr>
        <p:sp>
          <p:nvSpPr>
            <p:cNvPr name="Freeform 3" id="3"/>
            <p:cNvSpPr/>
            <p:nvPr/>
          </p:nvSpPr>
          <p:spPr>
            <a:xfrm flipH="false" flipV="false" rot="0">
              <a:off x="0" y="0"/>
              <a:ext cx="1827339" cy="2709333"/>
            </a:xfrm>
            <a:custGeom>
              <a:avLst/>
              <a:gdLst/>
              <a:ahLst/>
              <a:cxnLst/>
              <a:rect r="r" b="b" t="t" l="l"/>
              <a:pathLst>
                <a:path h="2709333" w="1827339">
                  <a:moveTo>
                    <a:pt x="0" y="0"/>
                  </a:moveTo>
                  <a:lnTo>
                    <a:pt x="1827339" y="0"/>
                  </a:lnTo>
                  <a:lnTo>
                    <a:pt x="1827339"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827339"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5343219" y="4032536"/>
            <a:ext cx="3189919" cy="620584"/>
          </a:xfrm>
          <a:custGeom>
            <a:avLst/>
            <a:gdLst/>
            <a:ahLst/>
            <a:cxnLst/>
            <a:rect r="r" b="b" t="t" l="l"/>
            <a:pathLst>
              <a:path h="620584" w="3189919">
                <a:moveTo>
                  <a:pt x="0" y="0"/>
                </a:moveTo>
                <a:lnTo>
                  <a:pt x="3189919" y="0"/>
                </a:lnTo>
                <a:lnTo>
                  <a:pt x="3189919" y="620584"/>
                </a:lnTo>
                <a:lnTo>
                  <a:pt x="0" y="620584"/>
                </a:lnTo>
                <a:lnTo>
                  <a:pt x="0" y="0"/>
                </a:lnTo>
                <a:close/>
              </a:path>
            </a:pathLst>
          </a:custGeom>
          <a:blipFill>
            <a:blip r:embed="rId2"/>
            <a:stretch>
              <a:fillRect l="0" t="0" r="0" b="0"/>
            </a:stretch>
          </a:blipFill>
        </p:spPr>
      </p:sp>
      <p:grpSp>
        <p:nvGrpSpPr>
          <p:cNvPr name="Group 6" id="6"/>
          <p:cNvGrpSpPr/>
          <p:nvPr/>
        </p:nvGrpSpPr>
        <p:grpSpPr>
          <a:xfrm rot="0">
            <a:off x="5459316" y="1438329"/>
            <a:ext cx="2920486" cy="2916826"/>
            <a:chOff x="0" y="0"/>
            <a:chExt cx="567580" cy="566868"/>
          </a:xfrm>
        </p:grpSpPr>
        <p:sp>
          <p:nvSpPr>
            <p:cNvPr name="Freeform 7" id="7"/>
            <p:cNvSpPr/>
            <p:nvPr/>
          </p:nvSpPr>
          <p:spPr>
            <a:xfrm flipH="false" flipV="false" rot="0">
              <a:off x="0" y="0"/>
              <a:ext cx="567580" cy="566868"/>
            </a:xfrm>
            <a:custGeom>
              <a:avLst/>
              <a:gdLst/>
              <a:ahLst/>
              <a:cxnLst/>
              <a:rect r="r" b="b" t="t" l="l"/>
              <a:pathLst>
                <a:path h="566868" w="567580">
                  <a:moveTo>
                    <a:pt x="119291" y="0"/>
                  </a:moveTo>
                  <a:lnTo>
                    <a:pt x="448289" y="0"/>
                  </a:lnTo>
                  <a:cubicBezTo>
                    <a:pt x="514171" y="0"/>
                    <a:pt x="567580" y="53408"/>
                    <a:pt x="567580" y="119291"/>
                  </a:cubicBezTo>
                  <a:lnTo>
                    <a:pt x="567580" y="447578"/>
                  </a:lnTo>
                  <a:cubicBezTo>
                    <a:pt x="567580" y="479216"/>
                    <a:pt x="555012" y="509558"/>
                    <a:pt x="532640" y="531929"/>
                  </a:cubicBezTo>
                  <a:cubicBezTo>
                    <a:pt x="510269" y="554300"/>
                    <a:pt x="479927" y="566868"/>
                    <a:pt x="448289" y="566868"/>
                  </a:cubicBezTo>
                  <a:lnTo>
                    <a:pt x="119291" y="566868"/>
                  </a:lnTo>
                  <a:cubicBezTo>
                    <a:pt x="87653" y="566868"/>
                    <a:pt x="57311" y="554300"/>
                    <a:pt x="34939" y="531929"/>
                  </a:cubicBezTo>
                  <a:cubicBezTo>
                    <a:pt x="12568" y="509558"/>
                    <a:pt x="0" y="479216"/>
                    <a:pt x="0" y="447578"/>
                  </a:cubicBezTo>
                  <a:lnTo>
                    <a:pt x="0" y="119291"/>
                  </a:lnTo>
                  <a:cubicBezTo>
                    <a:pt x="0" y="53408"/>
                    <a:pt x="53408" y="0"/>
                    <a:pt x="11929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8" id="8"/>
            <p:cNvSpPr txBox="true"/>
            <p:nvPr/>
          </p:nvSpPr>
          <p:spPr>
            <a:xfrm>
              <a:off x="0" y="28575"/>
              <a:ext cx="567580" cy="538293"/>
            </a:xfrm>
            <a:prstGeom prst="rect">
              <a:avLst/>
            </a:prstGeom>
          </p:spPr>
          <p:txBody>
            <a:bodyPr anchor="ctr" rtlCol="false" tIns="65745" lIns="65745" bIns="65745" rIns="65745"/>
            <a:lstStyle/>
            <a:p>
              <a:pPr algn="ctr" marL="0" indent="0" lvl="0">
                <a:lnSpc>
                  <a:spcPts val="2460"/>
                </a:lnSpc>
              </a:pPr>
            </a:p>
          </p:txBody>
        </p:sp>
      </p:grpSp>
      <p:sp>
        <p:nvSpPr>
          <p:cNvPr name="TextBox 9" id="9"/>
          <p:cNvSpPr txBox="true"/>
          <p:nvPr/>
        </p:nvSpPr>
        <p:spPr>
          <a:xfrm rot="0">
            <a:off x="5708475" y="2199673"/>
            <a:ext cx="2459408" cy="807581"/>
          </a:xfrm>
          <a:prstGeom prst="rect">
            <a:avLst/>
          </a:prstGeom>
        </p:spPr>
        <p:txBody>
          <a:bodyPr anchor="t" rtlCol="false" tIns="0" lIns="0" bIns="0" rIns="0">
            <a:spAutoFit/>
          </a:bodyPr>
          <a:lstStyle/>
          <a:p>
            <a:pPr algn="ctr" marL="0" indent="0" lvl="0">
              <a:lnSpc>
                <a:spcPts val="6024"/>
              </a:lnSpc>
            </a:pPr>
            <a:r>
              <a:rPr lang="en-US" b="true" sz="6085" spc="-182">
                <a:solidFill>
                  <a:srgbClr val="FFFFFF"/>
                </a:solidFill>
                <a:latin typeface="Bricolage Grotesque Bold"/>
                <a:ea typeface="Bricolage Grotesque Bold"/>
                <a:cs typeface="Bricolage Grotesque Bold"/>
                <a:sym typeface="Bricolage Grotesque Bold"/>
              </a:rPr>
              <a:t>+6</a:t>
            </a:r>
          </a:p>
        </p:txBody>
      </p:sp>
      <p:sp>
        <p:nvSpPr>
          <p:cNvPr name="TextBox 10" id="10"/>
          <p:cNvSpPr txBox="true"/>
          <p:nvPr/>
        </p:nvSpPr>
        <p:spPr>
          <a:xfrm rot="0">
            <a:off x="5940959" y="3060427"/>
            <a:ext cx="1957200" cy="647684"/>
          </a:xfrm>
          <a:prstGeom prst="rect">
            <a:avLst/>
          </a:prstGeom>
        </p:spPr>
        <p:txBody>
          <a:bodyPr anchor="t" rtlCol="false" tIns="0" lIns="0" bIns="0" rIns="0">
            <a:spAutoFit/>
          </a:bodyPr>
          <a:lstStyle/>
          <a:p>
            <a:pPr algn="ctr" marL="0" indent="0" lvl="0">
              <a:lnSpc>
                <a:spcPts val="2549"/>
              </a:lnSpc>
            </a:pPr>
            <a:r>
              <a:rPr lang="en-US" sz="1821" spc="-45">
                <a:solidFill>
                  <a:srgbClr val="FFFFFF"/>
                </a:solidFill>
                <a:latin typeface="Poppins"/>
                <a:ea typeface="Poppins"/>
                <a:cs typeface="Poppins"/>
                <a:sym typeface="Poppins"/>
              </a:rPr>
              <a:t>BUSINESS</a:t>
            </a:r>
          </a:p>
          <a:p>
            <a:pPr algn="ctr" marL="0" indent="0" lvl="0">
              <a:lnSpc>
                <a:spcPts val="2549"/>
              </a:lnSpc>
            </a:pPr>
            <a:r>
              <a:rPr lang="en-US" sz="1821" spc="-45">
                <a:solidFill>
                  <a:srgbClr val="FFFFFF"/>
                </a:solidFill>
                <a:latin typeface="Poppins"/>
                <a:ea typeface="Poppins"/>
                <a:cs typeface="Poppins"/>
                <a:sym typeface="Poppins"/>
              </a:rPr>
              <a:t>INSIGHT AREAS</a:t>
            </a:r>
          </a:p>
        </p:txBody>
      </p:sp>
      <p:sp>
        <p:nvSpPr>
          <p:cNvPr name="Freeform 11" id="11"/>
          <p:cNvSpPr/>
          <p:nvPr/>
        </p:nvSpPr>
        <p:spPr>
          <a:xfrm flipH="false" flipV="false" rot="0">
            <a:off x="1028700" y="4249763"/>
            <a:ext cx="1048918" cy="806713"/>
          </a:xfrm>
          <a:custGeom>
            <a:avLst/>
            <a:gdLst/>
            <a:ahLst/>
            <a:cxnLst/>
            <a:rect r="r" b="b" t="t" l="l"/>
            <a:pathLst>
              <a:path h="806713" w="1048918">
                <a:moveTo>
                  <a:pt x="0" y="0"/>
                </a:moveTo>
                <a:lnTo>
                  <a:pt x="1048918" y="0"/>
                </a:lnTo>
                <a:lnTo>
                  <a:pt x="1048918" y="806713"/>
                </a:lnTo>
                <a:lnTo>
                  <a:pt x="0" y="8067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028700" y="5530110"/>
            <a:ext cx="4378886" cy="486079"/>
          </a:xfrm>
          <a:prstGeom prst="rect">
            <a:avLst/>
          </a:prstGeom>
        </p:spPr>
        <p:txBody>
          <a:bodyPr anchor="t" rtlCol="false" tIns="0" lIns="0" bIns="0" rIns="0">
            <a:spAutoFit/>
          </a:bodyPr>
          <a:lstStyle/>
          <a:p>
            <a:pPr algn="l" marL="0" indent="0" lvl="0">
              <a:lnSpc>
                <a:spcPts val="4111"/>
              </a:lnSpc>
            </a:pPr>
            <a:r>
              <a:rPr lang="en-US" b="true" sz="1903">
                <a:solidFill>
                  <a:srgbClr val="FFFFFF"/>
                </a:solidFill>
                <a:latin typeface="Poppins Bold"/>
                <a:ea typeface="Poppins Bold"/>
                <a:cs typeface="Poppins Bold"/>
                <a:sym typeface="Poppins Bold"/>
              </a:rPr>
              <a:t>CATEGORY PERFORMANCE</a:t>
            </a:r>
          </a:p>
        </p:txBody>
      </p:sp>
      <p:sp>
        <p:nvSpPr>
          <p:cNvPr name="TextBox 13" id="13"/>
          <p:cNvSpPr txBox="true"/>
          <p:nvPr/>
        </p:nvSpPr>
        <p:spPr>
          <a:xfrm rot="0">
            <a:off x="1028700" y="6133750"/>
            <a:ext cx="4378886" cy="508409"/>
          </a:xfrm>
          <a:prstGeom prst="rect">
            <a:avLst/>
          </a:prstGeom>
        </p:spPr>
        <p:txBody>
          <a:bodyPr anchor="t" rtlCol="false" tIns="0" lIns="0" bIns="0" rIns="0">
            <a:spAutoFit/>
          </a:bodyPr>
          <a:lstStyle/>
          <a:p>
            <a:pPr algn="just" marL="0" indent="0" lvl="0">
              <a:lnSpc>
                <a:spcPts val="1975"/>
              </a:lnSpc>
            </a:pPr>
            <a:r>
              <a:rPr lang="en-US" sz="1619">
                <a:solidFill>
                  <a:srgbClr val="FFFFFF"/>
                </a:solidFill>
                <a:latin typeface="Poppins"/>
                <a:ea typeface="Poppins"/>
                <a:cs typeface="Poppins"/>
                <a:sym typeface="Poppins"/>
              </a:rPr>
              <a:t>Ranked categories by installs and revenue to identify top-performing segments.</a:t>
            </a:r>
          </a:p>
        </p:txBody>
      </p:sp>
      <p:grpSp>
        <p:nvGrpSpPr>
          <p:cNvPr name="Group 14" id="14"/>
          <p:cNvGrpSpPr/>
          <p:nvPr/>
        </p:nvGrpSpPr>
        <p:grpSpPr>
          <a:xfrm rot="0">
            <a:off x="1028700" y="7101998"/>
            <a:ext cx="4378886" cy="846713"/>
            <a:chOff x="0" y="0"/>
            <a:chExt cx="5838515" cy="1128950"/>
          </a:xfrm>
        </p:grpSpPr>
        <p:sp>
          <p:nvSpPr>
            <p:cNvPr name="TextBox 15" id="15"/>
            <p:cNvSpPr txBox="true"/>
            <p:nvPr/>
          </p:nvSpPr>
          <p:spPr>
            <a:xfrm rot="0">
              <a:off x="0" y="-200025"/>
              <a:ext cx="5838515" cy="581430"/>
            </a:xfrm>
            <a:prstGeom prst="rect">
              <a:avLst/>
            </a:prstGeom>
          </p:spPr>
          <p:txBody>
            <a:bodyPr anchor="t" rtlCol="false" tIns="0" lIns="0" bIns="0" rIns="0">
              <a:spAutoFit/>
            </a:bodyPr>
            <a:lstStyle/>
            <a:p>
              <a:pPr algn="l" marL="0" indent="0" lvl="0">
                <a:lnSpc>
                  <a:spcPts val="4111"/>
                </a:lnSpc>
              </a:pPr>
              <a:r>
                <a:rPr lang="en-US" b="true" sz="1903">
                  <a:solidFill>
                    <a:srgbClr val="FFFFFF"/>
                  </a:solidFill>
                  <a:latin typeface="Poppins Bold"/>
                  <a:ea typeface="Poppins Bold"/>
                  <a:cs typeface="Poppins Bold"/>
                  <a:sym typeface="Poppins Bold"/>
                </a:rPr>
                <a:t>INSTALL BASE ANALYSIS</a:t>
              </a:r>
            </a:p>
          </p:txBody>
        </p:sp>
        <p:sp>
          <p:nvSpPr>
            <p:cNvPr name="TextBox 16" id="16"/>
            <p:cNvSpPr txBox="true"/>
            <p:nvPr/>
          </p:nvSpPr>
          <p:spPr>
            <a:xfrm rot="0">
              <a:off x="0" y="457421"/>
              <a:ext cx="5838515" cy="671529"/>
            </a:xfrm>
            <a:prstGeom prst="rect">
              <a:avLst/>
            </a:prstGeom>
          </p:spPr>
          <p:txBody>
            <a:bodyPr anchor="t" rtlCol="false" tIns="0" lIns="0" bIns="0" rIns="0">
              <a:spAutoFit/>
            </a:bodyPr>
            <a:lstStyle/>
            <a:p>
              <a:pPr algn="just" marL="0" indent="0" lvl="0">
                <a:lnSpc>
                  <a:spcPts val="1975"/>
                </a:lnSpc>
              </a:pPr>
              <a:r>
                <a:rPr lang="en-US" sz="1619">
                  <a:solidFill>
                    <a:srgbClr val="FFFFFF"/>
                  </a:solidFill>
                  <a:latin typeface="Poppins"/>
                  <a:ea typeface="Poppins"/>
                  <a:cs typeface="Poppins"/>
                  <a:sym typeface="Poppins"/>
                </a:rPr>
                <a:t>Segmented apps by install tiers to reveal distribution patterns across the catalog.</a:t>
              </a:r>
            </a:p>
          </p:txBody>
        </p:sp>
      </p:grpSp>
      <p:grpSp>
        <p:nvGrpSpPr>
          <p:cNvPr name="Group 17" id="17"/>
          <p:cNvGrpSpPr/>
          <p:nvPr/>
        </p:nvGrpSpPr>
        <p:grpSpPr>
          <a:xfrm rot="0">
            <a:off x="1028700" y="8411587"/>
            <a:ext cx="4378886" cy="846713"/>
            <a:chOff x="0" y="0"/>
            <a:chExt cx="5838515" cy="1128950"/>
          </a:xfrm>
        </p:grpSpPr>
        <p:sp>
          <p:nvSpPr>
            <p:cNvPr name="TextBox 18" id="18"/>
            <p:cNvSpPr txBox="true"/>
            <p:nvPr/>
          </p:nvSpPr>
          <p:spPr>
            <a:xfrm rot="0">
              <a:off x="0" y="-200025"/>
              <a:ext cx="5838515" cy="581430"/>
            </a:xfrm>
            <a:prstGeom prst="rect">
              <a:avLst/>
            </a:prstGeom>
          </p:spPr>
          <p:txBody>
            <a:bodyPr anchor="t" rtlCol="false" tIns="0" lIns="0" bIns="0" rIns="0">
              <a:spAutoFit/>
            </a:bodyPr>
            <a:lstStyle/>
            <a:p>
              <a:pPr algn="l" marL="0" indent="0" lvl="0">
                <a:lnSpc>
                  <a:spcPts val="4111"/>
                </a:lnSpc>
              </a:pPr>
              <a:r>
                <a:rPr lang="en-US" b="true" sz="1903">
                  <a:solidFill>
                    <a:srgbClr val="FFFFFF"/>
                  </a:solidFill>
                  <a:latin typeface="Poppins Bold"/>
                  <a:ea typeface="Poppins Bold"/>
                  <a:cs typeface="Poppins Bold"/>
                  <a:sym typeface="Poppins Bold"/>
                </a:rPr>
                <a:t>FREE VS PAID APPS</a:t>
              </a:r>
            </a:p>
          </p:txBody>
        </p:sp>
        <p:sp>
          <p:nvSpPr>
            <p:cNvPr name="TextBox 19" id="19"/>
            <p:cNvSpPr txBox="true"/>
            <p:nvPr/>
          </p:nvSpPr>
          <p:spPr>
            <a:xfrm rot="0">
              <a:off x="0" y="457421"/>
              <a:ext cx="5838515" cy="671529"/>
            </a:xfrm>
            <a:prstGeom prst="rect">
              <a:avLst/>
            </a:prstGeom>
          </p:spPr>
          <p:txBody>
            <a:bodyPr anchor="t" rtlCol="false" tIns="0" lIns="0" bIns="0" rIns="0">
              <a:spAutoFit/>
            </a:bodyPr>
            <a:lstStyle/>
            <a:p>
              <a:pPr algn="just" marL="0" indent="0" lvl="0">
                <a:lnSpc>
                  <a:spcPts val="1975"/>
                </a:lnSpc>
              </a:pPr>
              <a:r>
                <a:rPr lang="en-US" sz="1619">
                  <a:solidFill>
                    <a:srgbClr val="FFFFFF"/>
                  </a:solidFill>
                  <a:latin typeface="Poppins"/>
                  <a:ea typeface="Poppins"/>
                  <a:cs typeface="Poppins"/>
                  <a:sym typeface="Poppins"/>
                </a:rPr>
                <a:t>Compared monetization models across categories to evaluate revenue trade-offs.</a:t>
              </a:r>
            </a:p>
          </p:txBody>
        </p:sp>
      </p:grpSp>
      <p:grpSp>
        <p:nvGrpSpPr>
          <p:cNvPr name="Group 20" id="20"/>
          <p:cNvGrpSpPr/>
          <p:nvPr/>
        </p:nvGrpSpPr>
        <p:grpSpPr>
          <a:xfrm rot="0">
            <a:off x="9345491" y="1401254"/>
            <a:ext cx="7522404" cy="7526048"/>
            <a:chOff x="0" y="0"/>
            <a:chExt cx="10029872" cy="10034731"/>
          </a:xfrm>
        </p:grpSpPr>
        <p:sp>
          <p:nvSpPr>
            <p:cNvPr name="TextBox 21" id="21"/>
            <p:cNvSpPr txBox="true"/>
            <p:nvPr/>
          </p:nvSpPr>
          <p:spPr>
            <a:xfrm rot="0">
              <a:off x="1033544" y="-57150"/>
              <a:ext cx="7126880" cy="458357"/>
            </a:xfrm>
            <a:prstGeom prst="rect">
              <a:avLst/>
            </a:prstGeom>
          </p:spPr>
          <p:txBody>
            <a:bodyPr anchor="t" rtlCol="false" tIns="0" lIns="0" bIns="0" rIns="0">
              <a:spAutoFit/>
            </a:bodyPr>
            <a:lstStyle/>
            <a:p>
              <a:pPr algn="just" marL="0" indent="0" lvl="0">
                <a:lnSpc>
                  <a:spcPts val="2839"/>
                </a:lnSpc>
              </a:pPr>
              <a:r>
                <a:rPr lang="en-US" b="true" sz="2028" spc="-50">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TOP RATED APPS</a:t>
              </a:r>
            </a:p>
          </p:txBody>
        </p:sp>
        <p:sp>
          <p:nvSpPr>
            <p:cNvPr name="TextBox 22" id="22"/>
            <p:cNvSpPr txBox="true"/>
            <p:nvPr/>
          </p:nvSpPr>
          <p:spPr>
            <a:xfrm rot="0">
              <a:off x="1033544" y="374370"/>
              <a:ext cx="8996329" cy="2575792"/>
            </a:xfrm>
            <a:prstGeom prst="rect">
              <a:avLst/>
            </a:prstGeom>
          </p:spPr>
          <p:txBody>
            <a:bodyPr anchor="t" rtlCol="false" tIns="0" lIns="0" bIns="0" rIns="0">
              <a:spAutoFit/>
            </a:bodyPr>
            <a:lstStyle/>
            <a:p>
              <a:pPr algn="just" marL="0" indent="0" lvl="0">
                <a:lnSpc>
                  <a:spcPts val="2589"/>
                </a:lnSpc>
              </a:pPr>
              <a:r>
                <a:rPr lang="en-US" sz="1849" spc="-46">
                  <a:solidFill>
                    <a:srgbClr val="3A58E4"/>
                  </a:solidFill>
                  <a:latin typeface="Poppins"/>
                  <a:ea typeface="Poppins"/>
                  <a:cs typeface="Poppins"/>
                  <a:sym typeface="Poppins"/>
                </a:rPr>
                <a:t>SQL queries identified top-rated applications by filtering apps with a minimum review threshold. Results revealed that high ratings alone do not guarantee high install counts, highlighting the importance of combining quality signals with marketing reach and category positioning for sustained growth.</a:t>
              </a:r>
            </a:p>
          </p:txBody>
        </p:sp>
        <p:sp>
          <p:nvSpPr>
            <p:cNvPr name="TextBox 23" id="23"/>
            <p:cNvSpPr txBox="true"/>
            <p:nvPr/>
          </p:nvSpPr>
          <p:spPr>
            <a:xfrm rot="0">
              <a:off x="1033544" y="3485135"/>
              <a:ext cx="7126880" cy="458357"/>
            </a:xfrm>
            <a:prstGeom prst="rect">
              <a:avLst/>
            </a:prstGeom>
          </p:spPr>
          <p:txBody>
            <a:bodyPr anchor="t" rtlCol="false" tIns="0" lIns="0" bIns="0" rIns="0">
              <a:spAutoFit/>
            </a:bodyPr>
            <a:lstStyle/>
            <a:p>
              <a:pPr algn="just" marL="0" indent="0" lvl="0">
                <a:lnSpc>
                  <a:spcPts val="2839"/>
                </a:lnSpc>
              </a:pPr>
              <a:r>
                <a:rPr lang="en-US" b="true" sz="2028" spc="-50">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REVENUE BY CATEGORY</a:t>
              </a:r>
            </a:p>
          </p:txBody>
        </p:sp>
        <p:sp>
          <p:nvSpPr>
            <p:cNvPr name="TextBox 24" id="24"/>
            <p:cNvSpPr txBox="true"/>
            <p:nvPr/>
          </p:nvSpPr>
          <p:spPr>
            <a:xfrm rot="0">
              <a:off x="1033544" y="3916654"/>
              <a:ext cx="8996329" cy="2575792"/>
            </a:xfrm>
            <a:prstGeom prst="rect">
              <a:avLst/>
            </a:prstGeom>
          </p:spPr>
          <p:txBody>
            <a:bodyPr anchor="t" rtlCol="false" tIns="0" lIns="0" bIns="0" rIns="0">
              <a:spAutoFit/>
            </a:bodyPr>
            <a:lstStyle/>
            <a:p>
              <a:pPr algn="just" marL="0" indent="0" lvl="0">
                <a:lnSpc>
                  <a:spcPts val="2589"/>
                </a:lnSpc>
              </a:pPr>
              <a:r>
                <a:rPr lang="en-US" sz="1849" spc="-46">
                  <a:solidFill>
                    <a:srgbClr val="3A58E4"/>
                  </a:solidFill>
                  <a:latin typeface="Poppins"/>
                  <a:ea typeface="Poppins"/>
                  <a:cs typeface="Poppins"/>
                  <a:sym typeface="Poppins"/>
                </a:rPr>
                <a:t>Revenue analysis by category exposed significant concentration in a small number of high-value segments. Games, Productivity, and Business categories account for the majority of estimated revenue, while many niche categories show minimal monetization potential despite maintaining a steady presence in the marketplace.</a:t>
              </a:r>
            </a:p>
          </p:txBody>
        </p:sp>
        <p:sp>
          <p:nvSpPr>
            <p:cNvPr name="TextBox 25" id="25"/>
            <p:cNvSpPr txBox="true"/>
            <p:nvPr/>
          </p:nvSpPr>
          <p:spPr>
            <a:xfrm rot="0">
              <a:off x="1033544" y="7027419"/>
              <a:ext cx="7126880" cy="458357"/>
            </a:xfrm>
            <a:prstGeom prst="rect">
              <a:avLst/>
            </a:prstGeom>
          </p:spPr>
          <p:txBody>
            <a:bodyPr anchor="t" rtlCol="false" tIns="0" lIns="0" bIns="0" rIns="0">
              <a:spAutoFit/>
            </a:bodyPr>
            <a:lstStyle/>
            <a:p>
              <a:pPr algn="just" marL="0" indent="0" lvl="0">
                <a:lnSpc>
                  <a:spcPts val="2839"/>
                </a:lnSpc>
              </a:pPr>
              <a:r>
                <a:rPr lang="en-US" b="true" sz="2028" spc="-50">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CUSTOMER ENGAGEMENT METRICS</a:t>
              </a:r>
            </a:p>
          </p:txBody>
        </p:sp>
        <p:sp>
          <p:nvSpPr>
            <p:cNvPr name="TextBox 26" id="26"/>
            <p:cNvSpPr txBox="true"/>
            <p:nvPr/>
          </p:nvSpPr>
          <p:spPr>
            <a:xfrm rot="0">
              <a:off x="1033544" y="7458939"/>
              <a:ext cx="8996329" cy="2575792"/>
            </a:xfrm>
            <a:prstGeom prst="rect">
              <a:avLst/>
            </a:prstGeom>
          </p:spPr>
          <p:txBody>
            <a:bodyPr anchor="t" rtlCol="false" tIns="0" lIns="0" bIns="0" rIns="0">
              <a:spAutoFit/>
            </a:bodyPr>
            <a:lstStyle/>
            <a:p>
              <a:pPr algn="just" marL="0" indent="0" lvl="0">
                <a:lnSpc>
                  <a:spcPts val="2589"/>
                </a:lnSpc>
              </a:pPr>
              <a:r>
                <a:rPr lang="en-US" sz="1849" spc="-46">
                  <a:solidFill>
                    <a:srgbClr val="3A58E4"/>
                  </a:solidFill>
                  <a:latin typeface="Poppins"/>
                  <a:ea typeface="Poppins"/>
                  <a:cs typeface="Poppins"/>
                  <a:sym typeface="Poppins"/>
                </a:rPr>
                <a:t>Review and rating analysis confirmed a strong positive correlation between install volume and review count. Apps with higher installs consistently attract more reviews, reinforcing social proof dynamics. Average rating across the catalog stands at 4.07, indicating generally positive user sentiment but limited differentiation at the top tier.</a:t>
              </a:r>
            </a:p>
          </p:txBody>
        </p:sp>
        <p:sp>
          <p:nvSpPr>
            <p:cNvPr name="TextBox 27" id="27"/>
            <p:cNvSpPr txBox="true"/>
            <p:nvPr/>
          </p:nvSpPr>
          <p:spPr>
            <a:xfrm rot="0">
              <a:off x="0" y="1290416"/>
              <a:ext cx="643052" cy="310113"/>
            </a:xfrm>
            <a:prstGeom prst="rect">
              <a:avLst/>
            </a:prstGeom>
          </p:spPr>
          <p:txBody>
            <a:bodyPr anchor="t" rtlCol="false" tIns="0" lIns="0" bIns="0" rIns="0">
              <a:spAutoFit/>
            </a:bodyPr>
            <a:lstStyle/>
            <a:p>
              <a:pPr algn="l" marL="0" indent="0" lvl="0">
                <a:lnSpc>
                  <a:spcPts val="1650"/>
                </a:lnSpc>
              </a:pPr>
              <a:r>
                <a:rPr lang="en-US" sz="1667" spc="-50">
                  <a:solidFill>
                    <a:srgbClr val="3A58E4"/>
                  </a:solidFill>
                  <a:latin typeface="Bricolage Grotesque"/>
                  <a:ea typeface="Bricolage Grotesque"/>
                  <a:cs typeface="Bricolage Grotesque"/>
                  <a:sym typeface="Bricolage Grotesque"/>
                </a:rPr>
                <a:t>01</a:t>
              </a:r>
            </a:p>
          </p:txBody>
        </p:sp>
        <p:sp>
          <p:nvSpPr>
            <p:cNvPr name="TextBox 28" id="28"/>
            <p:cNvSpPr txBox="true"/>
            <p:nvPr/>
          </p:nvSpPr>
          <p:spPr>
            <a:xfrm rot="0">
              <a:off x="0" y="4832701"/>
              <a:ext cx="643052" cy="310113"/>
            </a:xfrm>
            <a:prstGeom prst="rect">
              <a:avLst/>
            </a:prstGeom>
          </p:spPr>
          <p:txBody>
            <a:bodyPr anchor="t" rtlCol="false" tIns="0" lIns="0" bIns="0" rIns="0">
              <a:spAutoFit/>
            </a:bodyPr>
            <a:lstStyle/>
            <a:p>
              <a:pPr algn="l" marL="0" indent="0" lvl="0">
                <a:lnSpc>
                  <a:spcPts val="1650"/>
                </a:lnSpc>
              </a:pPr>
              <a:r>
                <a:rPr lang="en-US" sz="1667" spc="-50">
                  <a:solidFill>
                    <a:srgbClr val="3A58E4"/>
                  </a:solidFill>
                  <a:latin typeface="Bricolage Grotesque"/>
                  <a:ea typeface="Bricolage Grotesque"/>
                  <a:cs typeface="Bricolage Grotesque"/>
                  <a:sym typeface="Bricolage Grotesque"/>
                </a:rPr>
                <a:t>02</a:t>
              </a:r>
            </a:p>
          </p:txBody>
        </p:sp>
        <p:sp>
          <p:nvSpPr>
            <p:cNvPr name="TextBox 29" id="29"/>
            <p:cNvSpPr txBox="true"/>
            <p:nvPr/>
          </p:nvSpPr>
          <p:spPr>
            <a:xfrm rot="0">
              <a:off x="0" y="8374985"/>
              <a:ext cx="643052" cy="310113"/>
            </a:xfrm>
            <a:prstGeom prst="rect">
              <a:avLst/>
            </a:prstGeom>
          </p:spPr>
          <p:txBody>
            <a:bodyPr anchor="t" rtlCol="false" tIns="0" lIns="0" bIns="0" rIns="0">
              <a:spAutoFit/>
            </a:bodyPr>
            <a:lstStyle/>
            <a:p>
              <a:pPr algn="l" marL="0" indent="0" lvl="0">
                <a:lnSpc>
                  <a:spcPts val="1650"/>
                </a:lnSpc>
              </a:pPr>
              <a:r>
                <a:rPr lang="en-US" sz="1667" spc="-50">
                  <a:solidFill>
                    <a:srgbClr val="3A58E4"/>
                  </a:solidFill>
                  <a:latin typeface="Bricolage Grotesque"/>
                  <a:ea typeface="Bricolage Grotesque"/>
                  <a:cs typeface="Bricolage Grotesque"/>
                  <a:sym typeface="Bricolage Grotesque"/>
                </a:rPr>
                <a:t>03</a:t>
              </a:r>
            </a:p>
          </p:txBody>
        </p:sp>
      </p:grpSp>
      <p:grpSp>
        <p:nvGrpSpPr>
          <p:cNvPr name="Group 30" id="30"/>
          <p:cNvGrpSpPr/>
          <p:nvPr/>
        </p:nvGrpSpPr>
        <p:grpSpPr>
          <a:xfrm rot="0">
            <a:off x="1028700" y="1196251"/>
            <a:ext cx="24226" cy="1038034"/>
            <a:chOff x="0" y="0"/>
            <a:chExt cx="12543" cy="537460"/>
          </a:xfrm>
        </p:grpSpPr>
        <p:sp>
          <p:nvSpPr>
            <p:cNvPr name="Freeform 31" id="31"/>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FFFFFF"/>
            </a:solidFill>
          </p:spPr>
        </p:sp>
        <p:sp>
          <p:nvSpPr>
            <p:cNvPr name="TextBox 32" id="32"/>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3" id="33"/>
          <p:cNvSpPr txBox="true"/>
          <p:nvPr/>
        </p:nvSpPr>
        <p:spPr>
          <a:xfrm rot="0">
            <a:off x="1144711" y="1133573"/>
            <a:ext cx="2753109" cy="1268262"/>
          </a:xfrm>
          <a:prstGeom prst="rect">
            <a:avLst/>
          </a:prstGeom>
        </p:spPr>
        <p:txBody>
          <a:bodyPr anchor="t" rtlCol="false" tIns="0" lIns="0" bIns="0" rIns="0">
            <a:spAutoFit/>
          </a:bodyPr>
          <a:lstStyle/>
          <a:p>
            <a:pPr algn="l" marL="0" indent="0" lvl="0">
              <a:lnSpc>
                <a:spcPts val="4881"/>
              </a:lnSpc>
            </a:pPr>
            <a:r>
              <a:rPr lang="en-US" sz="4981" spc="-318">
                <a:solidFill>
                  <a:srgbClr val="FFFFFF"/>
                </a:solidFill>
                <a:latin typeface="Bricolage Grotesque"/>
                <a:ea typeface="Bricolage Grotesque"/>
                <a:cs typeface="Bricolage Grotesque"/>
                <a:sym typeface="Bricolage Grotesque"/>
              </a:rPr>
              <a:t>SQL</a:t>
            </a:r>
          </a:p>
          <a:p>
            <a:pPr algn="l" marL="0" indent="0" lvl="0">
              <a:lnSpc>
                <a:spcPts val="4881"/>
              </a:lnSpc>
            </a:pPr>
            <a:r>
              <a:rPr lang="en-US" sz="4981" spc="-318">
                <a:solidFill>
                  <a:srgbClr val="FFFFFF"/>
                </a:solidFill>
                <a:latin typeface="Bricolage Grotesque"/>
                <a:ea typeface="Bricolage Grotesque"/>
                <a:cs typeface="Bricolage Grotesque"/>
                <a:sym typeface="Bricolage Grotesque"/>
              </a:rPr>
              <a:t>Analysis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28142" y="1358088"/>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828142" y="4449725"/>
            <a:ext cx="9021242" cy="379246"/>
            <a:chOff x="0" y="0"/>
            <a:chExt cx="12028323" cy="505662"/>
          </a:xfrm>
        </p:grpSpPr>
        <p:sp>
          <p:nvSpPr>
            <p:cNvPr name="TextBox 6" id="6"/>
            <p:cNvSpPr txBox="true"/>
            <p:nvPr/>
          </p:nvSpPr>
          <p:spPr>
            <a:xfrm rot="0">
              <a:off x="0" y="-18628"/>
              <a:ext cx="11773903" cy="524290"/>
            </a:xfrm>
            <a:prstGeom prst="rect">
              <a:avLst/>
            </a:prstGeom>
          </p:spPr>
          <p:txBody>
            <a:bodyPr anchor="t" rtlCol="false" tIns="0" lIns="0" bIns="0" rIns="0">
              <a:spAutoFit/>
            </a:bodyPr>
            <a:lstStyle/>
            <a:p>
              <a:pPr algn="l" marL="0" indent="0" lvl="0">
                <a:lnSpc>
                  <a:spcPts val="3264"/>
                </a:lnSpc>
              </a:pPr>
              <a:r>
                <a:rPr lang="en-US" b="true" sz="2331" spc="-58">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DASHBOARD OVERVIEW: KPIS, VISUALS &amp; INTERACTIVE FILTERS</a:t>
              </a:r>
            </a:p>
          </p:txBody>
        </p:sp>
        <p:sp>
          <p:nvSpPr>
            <p:cNvPr name="Freeform 7" id="7"/>
            <p:cNvSpPr/>
            <p:nvPr/>
          </p:nvSpPr>
          <p:spPr>
            <a:xfrm flipH="false" flipV="false" rot="-8687136">
              <a:off x="11711303"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16438046" y="12531"/>
            <a:ext cx="1849954" cy="1835635"/>
            <a:chOff x="0" y="0"/>
            <a:chExt cx="2466605" cy="2447514"/>
          </a:xfrm>
        </p:grpSpPr>
        <p:grpSp>
          <p:nvGrpSpPr>
            <p:cNvPr name="Group 9" id="9"/>
            <p:cNvGrpSpPr/>
            <p:nvPr/>
          </p:nvGrpSpPr>
          <p:grpSpPr>
            <a:xfrm rot="0">
              <a:off x="0" y="0"/>
              <a:ext cx="2466605" cy="2447514"/>
              <a:chOff x="0" y="0"/>
              <a:chExt cx="787566" cy="781470"/>
            </a:xfrm>
          </p:grpSpPr>
          <p:sp>
            <p:nvSpPr>
              <p:cNvPr name="Freeform 10" id="10"/>
              <p:cNvSpPr/>
              <p:nvPr/>
            </p:nvSpPr>
            <p:spPr>
              <a:xfrm flipH="false" flipV="false" rot="0">
                <a:off x="0" y="0"/>
                <a:ext cx="787566" cy="781470"/>
              </a:xfrm>
              <a:custGeom>
                <a:avLst/>
                <a:gdLst/>
                <a:ahLst/>
                <a:cxnLst/>
                <a:rect r="r" b="b" t="t" l="l"/>
                <a:pathLst>
                  <a:path h="781470" w="787566">
                    <a:moveTo>
                      <a:pt x="0" y="0"/>
                    </a:moveTo>
                    <a:lnTo>
                      <a:pt x="787566" y="0"/>
                    </a:lnTo>
                    <a:lnTo>
                      <a:pt x="787566" y="781470"/>
                    </a:lnTo>
                    <a:lnTo>
                      <a:pt x="0" y="78147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1" id="11"/>
              <p:cNvSpPr txBox="true"/>
              <p:nvPr/>
            </p:nvSpPr>
            <p:spPr>
              <a:xfrm>
                <a:off x="0" y="-38100"/>
                <a:ext cx="787566" cy="81957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319164" y="694049"/>
              <a:ext cx="1828278" cy="1183241"/>
            </a:xfrm>
            <a:prstGeom prst="rect">
              <a:avLst/>
            </a:prstGeom>
          </p:spPr>
          <p:txBody>
            <a:bodyPr anchor="t" rtlCol="false" tIns="0" lIns="0" bIns="0" rIns="0">
              <a:spAutoFit/>
            </a:bodyPr>
            <a:lstStyle/>
            <a:p>
              <a:pPr algn="ctr" marL="0" indent="0" lvl="0">
                <a:lnSpc>
                  <a:spcPts val="6320"/>
                </a:lnSpc>
              </a:pPr>
              <a:r>
                <a:rPr lang="en-US" sz="6449" spc="-412">
                  <a:solidFill>
                    <a:srgbClr val="FFFFFF"/>
                  </a:solidFill>
                  <a:latin typeface="Bricolage Grotesque"/>
                  <a:ea typeface="Bricolage Grotesque"/>
                  <a:cs typeface="Bricolage Grotesque"/>
                  <a:sym typeface="Bricolage Grotesque"/>
                </a:rPr>
                <a:t>07</a:t>
              </a:r>
            </a:p>
          </p:txBody>
        </p:sp>
      </p:grpSp>
      <p:sp>
        <p:nvSpPr>
          <p:cNvPr name="AutoShape 13" id="13"/>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AutoShape 14" id="14"/>
          <p:cNvSpPr/>
          <p:nvPr/>
        </p:nvSpPr>
        <p:spPr>
          <a:xfrm>
            <a:off x="0" y="5320770"/>
            <a:ext cx="6542795" cy="0"/>
          </a:xfrm>
          <a:prstGeom prst="line">
            <a:avLst/>
          </a:prstGeom>
          <a:ln cap="rnd" w="19050">
            <a:solidFill>
              <a:srgbClr val="3A58E4"/>
            </a:solidFill>
            <a:prstDash val="solid"/>
            <a:headEnd type="none" len="sm" w="sm"/>
            <a:tailEnd type="none" len="sm" w="sm"/>
          </a:ln>
        </p:spPr>
      </p:sp>
      <p:pic>
        <p:nvPicPr>
          <p:cNvPr name="Picture 15" id="15"/>
          <p:cNvPicPr>
            <a:picLocks noChangeAspect="true"/>
          </p:cNvPicPr>
          <p:nvPr/>
        </p:nvPicPr>
        <p:blipFill>
          <a:blip r:embed="rId4"/>
          <a:stretch>
            <a:fillRect/>
          </a:stretch>
        </p:blipFill>
        <p:spPr>
          <a:xfrm rot="0">
            <a:off x="495583" y="425440"/>
            <a:ext cx="6324716" cy="5245119"/>
          </a:xfrm>
          <a:prstGeom prst="rect">
            <a:avLst/>
          </a:prstGeom>
        </p:spPr>
      </p:pic>
      <p:sp>
        <p:nvSpPr>
          <p:cNvPr name="TextBox 16" id="16"/>
          <p:cNvSpPr txBox="true"/>
          <p:nvPr/>
        </p:nvSpPr>
        <p:spPr>
          <a:xfrm rot="0">
            <a:off x="8056208" y="1206794"/>
            <a:ext cx="7107541" cy="2521349"/>
          </a:xfrm>
          <a:prstGeom prst="rect">
            <a:avLst/>
          </a:prstGeom>
        </p:spPr>
        <p:txBody>
          <a:bodyPr anchor="t" rtlCol="false" tIns="0" lIns="0" bIns="0" rIns="0">
            <a:spAutoFit/>
          </a:bodyPr>
          <a:lstStyle/>
          <a:p>
            <a:pPr algn="l" marL="0" indent="0" lvl="0">
              <a:lnSpc>
                <a:spcPts val="6580"/>
              </a:lnSpc>
            </a:pPr>
            <a:r>
              <a:rPr lang="en-US" sz="6714" spc="-42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Interactive</a:t>
            </a:r>
          </a:p>
          <a:p>
            <a:pPr algn="l" marL="0" indent="0" lvl="0">
              <a:lnSpc>
                <a:spcPts val="6580"/>
              </a:lnSpc>
            </a:pPr>
            <a:r>
              <a:rPr lang="en-US" sz="6714" spc="-42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Power BI</a:t>
            </a:r>
          </a:p>
          <a:p>
            <a:pPr algn="l" marL="0" indent="0" lvl="0">
              <a:lnSpc>
                <a:spcPts val="6580"/>
              </a:lnSpc>
            </a:pPr>
            <a:r>
              <a:rPr lang="en-US" sz="6714" spc="-42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Dashboard</a:t>
            </a:r>
          </a:p>
        </p:txBody>
      </p:sp>
      <p:sp>
        <p:nvSpPr>
          <p:cNvPr name="TextBox 17" id="17"/>
          <p:cNvSpPr txBox="true"/>
          <p:nvPr/>
        </p:nvSpPr>
        <p:spPr>
          <a:xfrm rot="0">
            <a:off x="7828142" y="5540987"/>
            <a:ext cx="9021242" cy="3525055"/>
          </a:xfrm>
          <a:prstGeom prst="rect">
            <a:avLst/>
          </a:prstGeom>
        </p:spPr>
        <p:txBody>
          <a:bodyPr anchor="t" rtlCol="false" tIns="0" lIns="0" bIns="0" rIns="0">
            <a:spAutoFit/>
          </a:bodyPr>
          <a:lstStyle/>
          <a:p>
            <a:pPr algn="just" marL="0" indent="0" lvl="0">
              <a:lnSpc>
                <a:spcPts val="3105"/>
              </a:lnSpc>
            </a:pPr>
            <a:r>
              <a:rPr lang="en-US" sz="2218" spc="-6">
                <a:solidFill>
                  <a:srgbClr val="3A58E4"/>
                </a:solidFill>
                <a:latin typeface="Poppins"/>
                <a:ea typeface="Poppins"/>
                <a:cs typeface="Poppins"/>
                <a:sym typeface="Poppins"/>
              </a:rPr>
              <a:t>The Power BI dashboard transforms raw marketplace data into dynamic, interactive business intelligence. KPI Cards display total revenue estimates, aggregate installs, and average ratings at a glance. Category Performance Visuals highlight which segments dominate the Play Store. Install Trend charts reveal growth patterns across app tiers. Interactive Filters enable stakeholders to slice data by category, pricing model, and rating band — empowering data-driven strategic decisions in real time.</a:t>
            </a:r>
          </a:p>
        </p:txBody>
      </p:sp>
      <p:sp>
        <p:nvSpPr>
          <p:cNvPr name="TextBox 18" id="18"/>
          <p:cNvSpPr txBox="true"/>
          <p:nvPr/>
        </p:nvSpPr>
        <p:spPr>
          <a:xfrm rot="0">
            <a:off x="1736067" y="8274662"/>
            <a:ext cx="3088700" cy="791380"/>
          </a:xfrm>
          <a:prstGeom prst="rect">
            <a:avLst/>
          </a:prstGeom>
        </p:spPr>
        <p:txBody>
          <a:bodyPr anchor="t" rtlCol="false" tIns="0" lIns="0" bIns="0" rIns="0">
            <a:spAutoFit/>
          </a:bodyPr>
          <a:lstStyle/>
          <a:p>
            <a:pPr algn="ctr" marL="0" indent="0" lvl="0">
              <a:lnSpc>
                <a:spcPts val="3105"/>
              </a:lnSpc>
            </a:pPr>
            <a:r>
              <a:rPr lang="en-US" sz="2218" spc="-6">
                <a:solidFill>
                  <a:srgbClr val="3A58E4"/>
                </a:solidFill>
                <a:latin typeface="Poppins"/>
                <a:ea typeface="Poppins"/>
                <a:cs typeface="Poppins"/>
                <a:sym typeface="Poppins"/>
              </a:rPr>
              <a:t>Avg. app rating</a:t>
            </a:r>
          </a:p>
          <a:p>
            <a:pPr algn="ctr" marL="0" indent="0" lvl="0">
              <a:lnSpc>
                <a:spcPts val="3105"/>
              </a:lnSpc>
            </a:pPr>
            <a:r>
              <a:rPr lang="en-US" sz="2218" spc="-6">
                <a:solidFill>
                  <a:srgbClr val="3A58E4"/>
                </a:solidFill>
                <a:latin typeface="Poppins"/>
                <a:ea typeface="Poppins"/>
                <a:cs typeface="Poppins"/>
                <a:sym typeface="Poppins"/>
              </a:rPr>
              <a:t>across marketplace</a:t>
            </a:r>
          </a:p>
        </p:txBody>
      </p:sp>
      <p:sp>
        <p:nvSpPr>
          <p:cNvPr name="TextBox 19" id="19"/>
          <p:cNvSpPr txBox="true"/>
          <p:nvPr/>
        </p:nvSpPr>
        <p:spPr>
          <a:xfrm rot="0">
            <a:off x="722135" y="5683902"/>
            <a:ext cx="5116565" cy="1758225"/>
          </a:xfrm>
          <a:prstGeom prst="rect">
            <a:avLst/>
          </a:prstGeom>
        </p:spPr>
        <p:txBody>
          <a:bodyPr anchor="t" rtlCol="false" tIns="0" lIns="0" bIns="0" rIns="0">
            <a:spAutoFit/>
          </a:bodyPr>
          <a:lstStyle/>
          <a:p>
            <a:pPr algn="ctr" marL="0" indent="0" lvl="0">
              <a:lnSpc>
                <a:spcPts val="14389"/>
              </a:lnSpc>
              <a:spcBef>
                <a:spcPct val="0"/>
              </a:spcBef>
            </a:pPr>
            <a:r>
              <a:rPr lang="en-US" sz="10278" spc="-657">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4.07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92056" y="1525863"/>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8492056" y="4594145"/>
            <a:ext cx="7106119" cy="265750"/>
          </a:xfrm>
          <a:prstGeom prst="rect">
            <a:avLst/>
          </a:prstGeom>
        </p:spPr>
        <p:txBody>
          <a:bodyPr anchor="t" rtlCol="false" tIns="0" lIns="0" bIns="0" rIns="0">
            <a:spAutoFit/>
          </a:bodyPr>
          <a:lstStyle/>
          <a:p>
            <a:pPr algn="l" marL="0" indent="0" lvl="0">
              <a:lnSpc>
                <a:spcPts val="2152"/>
              </a:lnSpc>
            </a:pPr>
            <a:r>
              <a:rPr lang="en-US" b="true" sz="1537" spc="-38">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CRITICAL DATA-DRIVEN FINDINGS FROM THE GOOGLE PLAY STORE ANALYSIS</a:t>
            </a:r>
          </a:p>
        </p:txBody>
      </p:sp>
      <p:sp>
        <p:nvSpPr>
          <p:cNvPr name="Freeform 6" id="6"/>
          <p:cNvSpPr/>
          <p:nvPr/>
        </p:nvSpPr>
        <p:spPr>
          <a:xfrm flipH="false" flipV="false" rot="-8687136">
            <a:off x="15580115" y="4542838"/>
            <a:ext cx="189150" cy="228643"/>
          </a:xfrm>
          <a:custGeom>
            <a:avLst/>
            <a:gdLst/>
            <a:ahLst/>
            <a:cxnLst/>
            <a:rect r="r" b="b" t="t" l="l"/>
            <a:pathLst>
              <a:path h="228643" w="189150">
                <a:moveTo>
                  <a:pt x="0" y="0"/>
                </a:moveTo>
                <a:lnTo>
                  <a:pt x="189150" y="0"/>
                </a:lnTo>
                <a:lnTo>
                  <a:pt x="189150" y="228644"/>
                </a:lnTo>
                <a:lnTo>
                  <a:pt x="0" y="228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0" y="0"/>
            <a:ext cx="6352295" cy="10287000"/>
            <a:chOff x="0" y="0"/>
            <a:chExt cx="984137" cy="1593725"/>
          </a:xfrm>
        </p:grpSpPr>
        <p:sp>
          <p:nvSpPr>
            <p:cNvPr name="Freeform 8" id="8"/>
            <p:cNvSpPr/>
            <p:nvPr/>
          </p:nvSpPr>
          <p:spPr>
            <a:xfrm flipH="false" flipV="false" rot="0">
              <a:off x="0" y="0"/>
              <a:ext cx="984137" cy="1593725"/>
            </a:xfrm>
            <a:custGeom>
              <a:avLst/>
              <a:gdLst/>
              <a:ahLst/>
              <a:cxnLst/>
              <a:rect r="r" b="b" t="t" l="l"/>
              <a:pathLst>
                <a:path h="1593725" w="984137">
                  <a:moveTo>
                    <a:pt x="0" y="0"/>
                  </a:moveTo>
                  <a:lnTo>
                    <a:pt x="984137" y="0"/>
                  </a:lnTo>
                  <a:lnTo>
                    <a:pt x="984137" y="1593725"/>
                  </a:lnTo>
                  <a:lnTo>
                    <a:pt x="0" y="1593725"/>
                  </a:lnTo>
                  <a:close/>
                </a:path>
              </a:pathLst>
            </a:custGeom>
            <a:blipFill>
              <a:blip r:embed="rId4"/>
              <a:stretch>
                <a:fillRect l="0" t="-306" r="0" b="-306"/>
              </a:stretch>
            </a:blipFill>
          </p:spPr>
        </p:sp>
      </p:grpSp>
      <p:grpSp>
        <p:nvGrpSpPr>
          <p:cNvPr name="Group 9" id="9"/>
          <p:cNvGrpSpPr/>
          <p:nvPr/>
        </p:nvGrpSpPr>
        <p:grpSpPr>
          <a:xfrm rot="0">
            <a:off x="16438046" y="350129"/>
            <a:ext cx="1849954" cy="1498037"/>
            <a:chOff x="0" y="0"/>
            <a:chExt cx="2466605" cy="1997382"/>
          </a:xfrm>
        </p:grpSpPr>
        <p:grpSp>
          <p:nvGrpSpPr>
            <p:cNvPr name="Group 10" id="10"/>
            <p:cNvGrpSpPr/>
            <p:nvPr/>
          </p:nvGrpSpPr>
          <p:grpSpPr>
            <a:xfrm rot="0">
              <a:off x="0" y="0"/>
              <a:ext cx="2466605" cy="1997382"/>
              <a:chOff x="0" y="0"/>
              <a:chExt cx="787566" cy="637747"/>
            </a:xfrm>
          </p:grpSpPr>
          <p:sp>
            <p:nvSpPr>
              <p:cNvPr name="Freeform 11" id="11"/>
              <p:cNvSpPr/>
              <p:nvPr/>
            </p:nvSpPr>
            <p:spPr>
              <a:xfrm flipH="false" flipV="false" rot="0">
                <a:off x="0" y="0"/>
                <a:ext cx="787566" cy="637747"/>
              </a:xfrm>
              <a:custGeom>
                <a:avLst/>
                <a:gdLst/>
                <a:ahLst/>
                <a:cxnLst/>
                <a:rect r="r" b="b" t="t" l="l"/>
                <a:pathLst>
                  <a:path h="637747" w="787566">
                    <a:moveTo>
                      <a:pt x="0" y="0"/>
                    </a:moveTo>
                    <a:lnTo>
                      <a:pt x="787566" y="0"/>
                    </a:lnTo>
                    <a:lnTo>
                      <a:pt x="787566" y="637747"/>
                    </a:lnTo>
                    <a:lnTo>
                      <a:pt x="0" y="637747"/>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67584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55949"/>
              <a:ext cx="1828278" cy="771210"/>
            </a:xfrm>
            <a:prstGeom prst="rect">
              <a:avLst/>
            </a:prstGeom>
          </p:spPr>
          <p:txBody>
            <a:bodyPr anchor="t" rtlCol="false" tIns="0" lIns="0" bIns="0" rIns="0">
              <a:spAutoFit/>
            </a:bodyPr>
            <a:lstStyle/>
            <a:p>
              <a:pPr algn="ctr" marL="0" indent="0" lvl="0">
                <a:lnSpc>
                  <a:spcPts val="4167"/>
                </a:lnSpc>
              </a:pPr>
              <a:r>
                <a:rPr lang="en-US" sz="4252" spc="-272">
                  <a:solidFill>
                    <a:srgbClr val="FFFFFF"/>
                  </a:solidFill>
                  <a:latin typeface="Bricolage Grotesque"/>
                  <a:ea typeface="Bricolage Grotesque"/>
                  <a:cs typeface="Bricolage Grotesque"/>
                  <a:sym typeface="Bricolage Grotesque"/>
                </a:rPr>
                <a:t>08</a:t>
              </a:r>
            </a:p>
          </p:txBody>
        </p:sp>
      </p:grpSp>
      <p:sp>
        <p:nvSpPr>
          <p:cNvPr name="AutoShape 14" id="14"/>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Freeform 15" id="15"/>
          <p:cNvSpPr/>
          <p:nvPr/>
        </p:nvSpPr>
        <p:spPr>
          <a:xfrm flipH="false" flipV="false" rot="0">
            <a:off x="5177017" y="5870652"/>
            <a:ext cx="2350556" cy="457290"/>
          </a:xfrm>
          <a:custGeom>
            <a:avLst/>
            <a:gdLst/>
            <a:ahLst/>
            <a:cxnLst/>
            <a:rect r="r" b="b" t="t" l="l"/>
            <a:pathLst>
              <a:path h="457290" w="2350556">
                <a:moveTo>
                  <a:pt x="0" y="0"/>
                </a:moveTo>
                <a:lnTo>
                  <a:pt x="2350556" y="0"/>
                </a:lnTo>
                <a:lnTo>
                  <a:pt x="2350556" y="457290"/>
                </a:lnTo>
                <a:lnTo>
                  <a:pt x="0" y="457290"/>
                </a:lnTo>
                <a:lnTo>
                  <a:pt x="0" y="0"/>
                </a:lnTo>
                <a:close/>
              </a:path>
            </a:pathLst>
          </a:custGeom>
          <a:blipFill>
            <a:blip r:embed="rId5"/>
            <a:stretch>
              <a:fillRect l="0" t="0" r="0" b="0"/>
            </a:stretch>
          </a:blipFill>
        </p:spPr>
      </p:sp>
      <p:grpSp>
        <p:nvGrpSpPr>
          <p:cNvPr name="Group 16" id="16"/>
          <p:cNvGrpSpPr/>
          <p:nvPr/>
        </p:nvGrpSpPr>
        <p:grpSpPr>
          <a:xfrm rot="0">
            <a:off x="5262566" y="3959058"/>
            <a:ext cx="2152019" cy="2149322"/>
            <a:chOff x="0" y="0"/>
            <a:chExt cx="567580" cy="566868"/>
          </a:xfrm>
        </p:grpSpPr>
        <p:sp>
          <p:nvSpPr>
            <p:cNvPr name="Freeform 17" id="17"/>
            <p:cNvSpPr/>
            <p:nvPr/>
          </p:nvSpPr>
          <p:spPr>
            <a:xfrm flipH="false" flipV="false" rot="0">
              <a:off x="0" y="0"/>
              <a:ext cx="567580" cy="566868"/>
            </a:xfrm>
            <a:custGeom>
              <a:avLst/>
              <a:gdLst/>
              <a:ahLst/>
              <a:cxnLst/>
              <a:rect r="r" b="b" t="t" l="l"/>
              <a:pathLst>
                <a:path h="566868" w="567580">
                  <a:moveTo>
                    <a:pt x="161888" y="0"/>
                  </a:moveTo>
                  <a:lnTo>
                    <a:pt x="405691" y="0"/>
                  </a:lnTo>
                  <a:cubicBezTo>
                    <a:pt x="495100" y="0"/>
                    <a:pt x="567580" y="72480"/>
                    <a:pt x="567580" y="161888"/>
                  </a:cubicBezTo>
                  <a:lnTo>
                    <a:pt x="567580" y="404980"/>
                  </a:lnTo>
                  <a:cubicBezTo>
                    <a:pt x="567580" y="494389"/>
                    <a:pt x="495100" y="566868"/>
                    <a:pt x="405691" y="566868"/>
                  </a:cubicBezTo>
                  <a:lnTo>
                    <a:pt x="161888" y="566868"/>
                  </a:lnTo>
                  <a:cubicBezTo>
                    <a:pt x="72480" y="566868"/>
                    <a:pt x="0" y="494389"/>
                    <a:pt x="0" y="404980"/>
                  </a:cubicBezTo>
                  <a:lnTo>
                    <a:pt x="0" y="161888"/>
                  </a:lnTo>
                  <a:cubicBezTo>
                    <a:pt x="0" y="72480"/>
                    <a:pt x="72480" y="0"/>
                    <a:pt x="161888"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18" id="18"/>
            <p:cNvSpPr txBox="true"/>
            <p:nvPr/>
          </p:nvSpPr>
          <p:spPr>
            <a:xfrm>
              <a:off x="0" y="28575"/>
              <a:ext cx="567580" cy="538293"/>
            </a:xfrm>
            <a:prstGeom prst="rect">
              <a:avLst/>
            </a:prstGeom>
          </p:spPr>
          <p:txBody>
            <a:bodyPr anchor="ctr" rtlCol="false" tIns="48445" lIns="48445" bIns="48445" rIns="48445"/>
            <a:lstStyle/>
            <a:p>
              <a:pPr algn="ctr" marL="0" indent="0" lvl="0">
                <a:lnSpc>
                  <a:spcPts val="2460"/>
                </a:lnSpc>
              </a:pPr>
            </a:p>
          </p:txBody>
        </p:sp>
      </p:grpSp>
      <p:sp>
        <p:nvSpPr>
          <p:cNvPr name="TextBox 19" id="19"/>
          <p:cNvSpPr txBox="true"/>
          <p:nvPr/>
        </p:nvSpPr>
        <p:spPr>
          <a:xfrm rot="0">
            <a:off x="5602320" y="4416246"/>
            <a:ext cx="1499950" cy="316374"/>
          </a:xfrm>
          <a:prstGeom prst="rect">
            <a:avLst/>
          </a:prstGeom>
        </p:spPr>
        <p:txBody>
          <a:bodyPr anchor="t" rtlCol="false" tIns="0" lIns="0" bIns="0" rIns="0">
            <a:spAutoFit/>
          </a:bodyPr>
          <a:lstStyle/>
          <a:p>
            <a:pPr algn="ctr" marL="0" indent="0" lvl="0">
              <a:lnSpc>
                <a:spcPts val="2384"/>
              </a:lnSpc>
            </a:pPr>
            <a:r>
              <a:rPr lang="en-US" b="true" sz="2408" spc="-72">
                <a:solidFill>
                  <a:srgbClr val="FFFFFF"/>
                </a:solidFill>
                <a:latin typeface="Bricolage Grotesque Bold"/>
                <a:ea typeface="Bricolage Grotesque Bold"/>
                <a:cs typeface="Bricolage Grotesque Bold"/>
                <a:sym typeface="Bricolage Grotesque Bold"/>
              </a:rPr>
              <a:t>95.9%</a:t>
            </a:r>
          </a:p>
        </p:txBody>
      </p:sp>
      <p:sp>
        <p:nvSpPr>
          <p:cNvPr name="TextBox 20" id="20"/>
          <p:cNvSpPr txBox="true"/>
          <p:nvPr/>
        </p:nvSpPr>
        <p:spPr>
          <a:xfrm rot="0">
            <a:off x="5746312" y="5064546"/>
            <a:ext cx="1211966" cy="626745"/>
          </a:xfrm>
          <a:prstGeom prst="rect">
            <a:avLst/>
          </a:prstGeom>
        </p:spPr>
        <p:txBody>
          <a:bodyPr anchor="t" rtlCol="false" tIns="0" lIns="0" bIns="0" rIns="0">
            <a:spAutoFit/>
          </a:bodyPr>
          <a:lstStyle/>
          <a:p>
            <a:pPr algn="ctr" marL="0" indent="0" lvl="0">
              <a:lnSpc>
                <a:spcPts val="1679"/>
              </a:lnSpc>
            </a:pPr>
            <a:r>
              <a:rPr lang="en-US" sz="1199" spc="-29">
                <a:solidFill>
                  <a:srgbClr val="FFFFFF"/>
                </a:solidFill>
                <a:latin typeface="Poppins"/>
                <a:ea typeface="Poppins"/>
                <a:cs typeface="Poppins"/>
                <a:sym typeface="Poppins"/>
              </a:rPr>
              <a:t>FREE APPS DOMINATE CATALOG</a:t>
            </a:r>
          </a:p>
        </p:txBody>
      </p:sp>
      <p:sp>
        <p:nvSpPr>
          <p:cNvPr name="TextBox 21" id="21"/>
          <p:cNvSpPr txBox="true"/>
          <p:nvPr/>
        </p:nvSpPr>
        <p:spPr>
          <a:xfrm rot="0">
            <a:off x="8720122" y="1406218"/>
            <a:ext cx="5780387" cy="2489701"/>
          </a:xfrm>
          <a:prstGeom prst="rect">
            <a:avLst/>
          </a:prstGeom>
        </p:spPr>
        <p:txBody>
          <a:bodyPr anchor="t" rtlCol="false" tIns="0" lIns="0" bIns="0" rIns="0">
            <a:spAutoFit/>
          </a:bodyPr>
          <a:lstStyle/>
          <a:p>
            <a:pPr algn="l"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Key Insights</a:t>
            </a:r>
          </a:p>
        </p:txBody>
      </p:sp>
      <p:sp>
        <p:nvSpPr>
          <p:cNvPr name="TextBox 22" id="22"/>
          <p:cNvSpPr txBox="true"/>
          <p:nvPr/>
        </p:nvSpPr>
        <p:spPr>
          <a:xfrm rot="0">
            <a:off x="8492056" y="5007396"/>
            <a:ext cx="7325824" cy="1574142"/>
          </a:xfrm>
          <a:prstGeom prst="rect">
            <a:avLst/>
          </a:prstGeom>
        </p:spPr>
        <p:txBody>
          <a:bodyPr anchor="t" rtlCol="false" tIns="0" lIns="0" bIns="0" rIns="0">
            <a:spAutoFit/>
          </a:bodyPr>
          <a:lstStyle/>
          <a:p>
            <a:pPr algn="just" marL="0" indent="0" lvl="0">
              <a:lnSpc>
                <a:spcPts val="2486"/>
              </a:lnSpc>
            </a:pPr>
            <a:r>
              <a:rPr lang="en-US" sz="1775" spc="-5">
                <a:solidFill>
                  <a:srgbClr val="3A58E4"/>
                </a:solidFill>
                <a:latin typeface="Poppins"/>
                <a:ea typeface="Poppins"/>
                <a:cs typeface="Poppins"/>
                <a:sym typeface="Poppins"/>
              </a:rPr>
              <a:t>Analysis of the Google Play Store reveals clear patterns in app distribution, monetization, and user engagement. Free applications overwhelmingly dominate the marketplace, while a small number of categories capture the majority of installs and estimated revenue.</a:t>
            </a:r>
          </a:p>
        </p:txBody>
      </p:sp>
      <p:sp>
        <p:nvSpPr>
          <p:cNvPr name="TextBox 23" id="23"/>
          <p:cNvSpPr txBox="true"/>
          <p:nvPr/>
        </p:nvSpPr>
        <p:spPr>
          <a:xfrm rot="0">
            <a:off x="8492056" y="6781563"/>
            <a:ext cx="7325824" cy="2202792"/>
          </a:xfrm>
          <a:prstGeom prst="rect">
            <a:avLst/>
          </a:prstGeom>
        </p:spPr>
        <p:txBody>
          <a:bodyPr anchor="t" rtlCol="false" tIns="0" lIns="0" bIns="0" rIns="0">
            <a:spAutoFit/>
          </a:bodyPr>
          <a:lstStyle/>
          <a:p>
            <a:pPr algn="just" marL="383417" indent="-191709" lvl="1">
              <a:lnSpc>
                <a:spcPts val="2486"/>
              </a:lnSpc>
              <a:buFont typeface="Arial"/>
              <a:buChar char="•"/>
            </a:pPr>
            <a:r>
              <a:rPr lang="en-US" sz="1775" spc="-5">
                <a:solidFill>
                  <a:srgbClr val="3A58E4"/>
                </a:solidFill>
                <a:latin typeface="Poppins"/>
                <a:ea typeface="Poppins"/>
                <a:cs typeface="Poppins"/>
                <a:sym typeface="Poppins"/>
              </a:rPr>
              <a:t>Games &amp; Productivity lead in installs and app counts</a:t>
            </a:r>
          </a:p>
          <a:p>
            <a:pPr algn="just" marL="383417" indent="-191709" lvl="1">
              <a:lnSpc>
                <a:spcPts val="2486"/>
              </a:lnSpc>
              <a:buFont typeface="Arial"/>
              <a:buChar char="•"/>
            </a:pPr>
            <a:r>
              <a:rPr lang="en-US" sz="1775" spc="-5">
                <a:solidFill>
                  <a:srgbClr val="3A58E4"/>
                </a:solidFill>
                <a:latin typeface="Poppins"/>
                <a:ea typeface="Poppins"/>
                <a:cs typeface="Poppins"/>
                <a:sym typeface="Poppins"/>
              </a:rPr>
              <a:t>Customer reviews strongly correlate with higher downloads</a:t>
            </a:r>
          </a:p>
          <a:p>
            <a:pPr algn="just" marL="383417" indent="-191709" lvl="1">
              <a:lnSpc>
                <a:spcPts val="2486"/>
              </a:lnSpc>
              <a:buFont typeface="Arial"/>
              <a:buChar char="•"/>
            </a:pPr>
            <a:r>
              <a:rPr lang="en-US" sz="1775" spc="-5">
                <a:solidFill>
                  <a:srgbClr val="3A58E4"/>
                </a:solidFill>
                <a:latin typeface="Poppins"/>
                <a:ea typeface="Poppins"/>
                <a:cs typeface="Poppins"/>
                <a:sym typeface="Poppins"/>
              </a:rPr>
              <a:t>Average app rating is 4.07 — but rating alone doesn't drive success</a:t>
            </a:r>
          </a:p>
          <a:p>
            <a:pPr algn="just" marL="383417" indent="-191709" lvl="1">
              <a:lnSpc>
                <a:spcPts val="2486"/>
              </a:lnSpc>
              <a:buFont typeface="Arial"/>
              <a:buChar char="•"/>
            </a:pPr>
            <a:r>
              <a:rPr lang="en-US" sz="1775" spc="-5">
                <a:solidFill>
                  <a:srgbClr val="3A58E4"/>
                </a:solidFill>
                <a:latin typeface="Poppins"/>
                <a:ea typeface="Poppins"/>
                <a:cs typeface="Poppins"/>
                <a:sym typeface="Poppins"/>
              </a:rPr>
              <a:t>Revenue is concentrated in a few high-performing categories</a:t>
            </a:r>
          </a:p>
          <a:p>
            <a:pPr algn="just" marL="383417" indent="-191709" lvl="1">
              <a:lnSpc>
                <a:spcPts val="2486"/>
              </a:lnSpc>
              <a:buFont typeface="Arial"/>
              <a:buChar char="•"/>
            </a:pPr>
            <a:r>
              <a:rPr lang="en-US" sz="1775" spc="-5">
                <a:solidFill>
                  <a:srgbClr val="3A58E4"/>
                </a:solidFill>
                <a:latin typeface="Poppins"/>
                <a:ea typeface="Poppins"/>
                <a:cs typeface="Poppins"/>
                <a:sym typeface="Poppins"/>
              </a:rPr>
              <a:t>Install distribution shows a sharp drop from low to very high tiers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415882" cy="10287000"/>
            <a:chOff x="0" y="0"/>
            <a:chExt cx="636282" cy="2709333"/>
          </a:xfrm>
        </p:grpSpPr>
        <p:sp>
          <p:nvSpPr>
            <p:cNvPr name="Freeform 3" id="3"/>
            <p:cNvSpPr/>
            <p:nvPr/>
          </p:nvSpPr>
          <p:spPr>
            <a:xfrm flipH="false" flipV="false" rot="0">
              <a:off x="0" y="0"/>
              <a:ext cx="636282" cy="2709333"/>
            </a:xfrm>
            <a:custGeom>
              <a:avLst/>
              <a:gdLst/>
              <a:ahLst/>
              <a:cxnLst/>
              <a:rect r="r" b="b" t="t" l="l"/>
              <a:pathLst>
                <a:path h="2709333" w="636282">
                  <a:moveTo>
                    <a:pt x="0" y="0"/>
                  </a:moveTo>
                  <a:lnTo>
                    <a:pt x="636282" y="0"/>
                  </a:lnTo>
                  <a:lnTo>
                    <a:pt x="636282" y="2709333"/>
                  </a:lnTo>
                  <a:lnTo>
                    <a:pt x="0" y="2709333"/>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636282"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9846193" y="1637054"/>
            <a:ext cx="11246850" cy="6612954"/>
          </a:xfrm>
          <a:custGeom>
            <a:avLst/>
            <a:gdLst/>
            <a:ahLst/>
            <a:cxnLst/>
            <a:rect r="r" b="b" t="t" l="l"/>
            <a:pathLst>
              <a:path h="6612954" w="11246850">
                <a:moveTo>
                  <a:pt x="0" y="0"/>
                </a:moveTo>
                <a:lnTo>
                  <a:pt x="11246849" y="0"/>
                </a:lnTo>
                <a:lnTo>
                  <a:pt x="11246849" y="6612954"/>
                </a:lnTo>
                <a:lnTo>
                  <a:pt x="0" y="6612954"/>
                </a:lnTo>
                <a:lnTo>
                  <a:pt x="0" y="0"/>
                </a:lnTo>
                <a:close/>
              </a:path>
            </a:pathLst>
          </a:custGeom>
          <a:blipFill>
            <a:blip r:embed="rId2"/>
            <a:stretch>
              <a:fillRect l="0" t="0" r="0" b="0"/>
            </a:stretch>
          </a:blipFill>
        </p:spPr>
      </p:sp>
      <p:sp>
        <p:nvSpPr>
          <p:cNvPr name="Freeform 6" id="6"/>
          <p:cNvSpPr/>
          <p:nvPr/>
        </p:nvSpPr>
        <p:spPr>
          <a:xfrm flipH="false" flipV="false" rot="0">
            <a:off x="839956" y="1028700"/>
            <a:ext cx="735971" cy="710546"/>
          </a:xfrm>
          <a:custGeom>
            <a:avLst/>
            <a:gdLst/>
            <a:ahLst/>
            <a:cxnLst/>
            <a:rect r="r" b="b" t="t" l="l"/>
            <a:pathLst>
              <a:path h="710546" w="735971">
                <a:moveTo>
                  <a:pt x="0" y="0"/>
                </a:moveTo>
                <a:lnTo>
                  <a:pt x="735970" y="0"/>
                </a:lnTo>
                <a:lnTo>
                  <a:pt x="735970" y="710546"/>
                </a:lnTo>
                <a:lnTo>
                  <a:pt x="0" y="7105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320099" y="7266104"/>
            <a:ext cx="2672092" cy="255789"/>
          </a:xfrm>
          <a:prstGeom prst="rect">
            <a:avLst/>
          </a:prstGeom>
        </p:spPr>
        <p:txBody>
          <a:bodyPr anchor="t" rtlCol="false" tIns="0" lIns="0" bIns="0" rIns="0">
            <a:spAutoFit/>
          </a:bodyPr>
          <a:lstStyle/>
          <a:p>
            <a:pPr algn="l" marL="0" indent="0" lvl="0">
              <a:lnSpc>
                <a:spcPts val="1773"/>
              </a:lnSpc>
            </a:pPr>
            <a:r>
              <a:rPr lang="en-US" b="true" sz="2038">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MONETIZATION MIX</a:t>
            </a:r>
          </a:p>
        </p:txBody>
      </p:sp>
      <p:sp>
        <p:nvSpPr>
          <p:cNvPr name="TextBox 8" id="8"/>
          <p:cNvSpPr txBox="true"/>
          <p:nvPr/>
        </p:nvSpPr>
        <p:spPr>
          <a:xfrm rot="0">
            <a:off x="3320099" y="7620589"/>
            <a:ext cx="2392710" cy="505681"/>
          </a:xfrm>
          <a:prstGeom prst="rect">
            <a:avLst/>
          </a:prstGeom>
        </p:spPr>
        <p:txBody>
          <a:bodyPr anchor="t" rtlCol="false" tIns="0" lIns="0" bIns="0" rIns="0">
            <a:spAutoFit/>
          </a:bodyPr>
          <a:lstStyle/>
          <a:p>
            <a:pPr algn="l" marL="0" indent="0" lvl="0">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Varies widely by category</a:t>
            </a:r>
          </a:p>
        </p:txBody>
      </p:sp>
      <p:sp>
        <p:nvSpPr>
          <p:cNvPr name="TextBox 9" id="9"/>
          <p:cNvSpPr txBox="true"/>
          <p:nvPr/>
        </p:nvSpPr>
        <p:spPr>
          <a:xfrm rot="0">
            <a:off x="3320099" y="8334674"/>
            <a:ext cx="2061823" cy="255789"/>
          </a:xfrm>
          <a:prstGeom prst="rect">
            <a:avLst/>
          </a:prstGeom>
        </p:spPr>
        <p:txBody>
          <a:bodyPr anchor="t" rtlCol="false" tIns="0" lIns="0" bIns="0" rIns="0">
            <a:spAutoFit/>
          </a:bodyPr>
          <a:lstStyle/>
          <a:p>
            <a:pPr algn="l" marL="0" indent="0" lvl="0">
              <a:lnSpc>
                <a:spcPts val="1773"/>
              </a:lnSpc>
            </a:pPr>
            <a:r>
              <a:rPr lang="en-US" b="true" sz="2038">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INSTALL TIERS</a:t>
            </a:r>
          </a:p>
        </p:txBody>
      </p:sp>
      <p:sp>
        <p:nvSpPr>
          <p:cNvPr name="TextBox 10" id="10"/>
          <p:cNvSpPr txBox="true"/>
          <p:nvPr/>
        </p:nvSpPr>
        <p:spPr>
          <a:xfrm rot="0">
            <a:off x="3255860" y="8685713"/>
            <a:ext cx="2392710" cy="505681"/>
          </a:xfrm>
          <a:prstGeom prst="rect">
            <a:avLst/>
          </a:prstGeom>
        </p:spPr>
        <p:txBody>
          <a:bodyPr anchor="t" rtlCol="false" tIns="0" lIns="0" bIns="0" rIns="0">
            <a:spAutoFit/>
          </a:bodyPr>
          <a:lstStyle/>
          <a:p>
            <a:pPr algn="l" marL="0" indent="0" lvl="0">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Sharp drop: low to high</a:t>
            </a:r>
          </a:p>
        </p:txBody>
      </p:sp>
      <p:sp>
        <p:nvSpPr>
          <p:cNvPr name="TextBox 11" id="11"/>
          <p:cNvSpPr txBox="true"/>
          <p:nvPr/>
        </p:nvSpPr>
        <p:spPr>
          <a:xfrm rot="0">
            <a:off x="3320099" y="980112"/>
            <a:ext cx="5996813" cy="4239403"/>
          </a:xfrm>
          <a:prstGeom prst="rect">
            <a:avLst/>
          </a:prstGeom>
        </p:spPr>
        <p:txBody>
          <a:bodyPr anchor="t" rtlCol="false" tIns="0" lIns="0" bIns="0" rIns="0">
            <a:spAutoFit/>
          </a:bodyPr>
          <a:lstStyle/>
          <a:p>
            <a:pPr algn="l" marL="0" indent="0" lvl="0">
              <a:lnSpc>
                <a:spcPts val="10983"/>
              </a:lnSpc>
            </a:pPr>
            <a:r>
              <a:rPr lang="en-US" sz="11207" spc="-71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Key</a:t>
            </a:r>
          </a:p>
          <a:p>
            <a:pPr algn="l" marL="0" indent="0" lvl="0">
              <a:lnSpc>
                <a:spcPts val="10983"/>
              </a:lnSpc>
            </a:pPr>
            <a:r>
              <a:rPr lang="en-US" sz="11207" spc="-71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Insights</a:t>
            </a:r>
          </a:p>
          <a:p>
            <a:pPr algn="l" marL="0" indent="0" lvl="0">
              <a:lnSpc>
                <a:spcPts val="10983"/>
              </a:lnSpc>
            </a:pPr>
            <a:r>
              <a:rPr lang="en-US" sz="11207" spc="-71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(Cont'd)</a:t>
            </a:r>
          </a:p>
        </p:txBody>
      </p:sp>
      <p:sp>
        <p:nvSpPr>
          <p:cNvPr name="TextBox 12" id="12"/>
          <p:cNvSpPr txBox="true"/>
          <p:nvPr/>
        </p:nvSpPr>
        <p:spPr>
          <a:xfrm rot="0">
            <a:off x="3320099" y="5551934"/>
            <a:ext cx="5696631" cy="1119447"/>
          </a:xfrm>
          <a:prstGeom prst="rect">
            <a:avLst/>
          </a:prstGeom>
        </p:spPr>
        <p:txBody>
          <a:bodyPr anchor="t" rtlCol="false" tIns="0" lIns="0" bIns="0" rIns="0">
            <a:spAutoFit/>
          </a:bodyPr>
          <a:lstStyle/>
          <a:p>
            <a:pPr algn="just" marL="0" indent="0" lvl="0">
              <a:lnSpc>
                <a:spcPts val="2967"/>
              </a:lnSpc>
            </a:pPr>
            <a:r>
              <a:rPr lang="en-US" sz="2318" spc="-6">
                <a:solidFill>
                  <a:srgbClr val="3A58E4"/>
                </a:solidFill>
                <a:latin typeface="Poppins"/>
                <a:ea typeface="Poppins"/>
                <a:cs typeface="Poppins"/>
                <a:sym typeface="Poppins"/>
              </a:rPr>
              <a:t>Monetization mix, install distribution patterns, and the relationship between reviews, installs, and ratings.</a:t>
            </a:r>
          </a:p>
        </p:txBody>
      </p:sp>
      <p:sp>
        <p:nvSpPr>
          <p:cNvPr name="TextBox 13" id="13"/>
          <p:cNvSpPr txBox="true"/>
          <p:nvPr/>
        </p:nvSpPr>
        <p:spPr>
          <a:xfrm rot="0">
            <a:off x="350972" y="1978357"/>
            <a:ext cx="1704171" cy="311629"/>
          </a:xfrm>
          <a:prstGeom prst="rect">
            <a:avLst/>
          </a:prstGeom>
        </p:spPr>
        <p:txBody>
          <a:bodyPr anchor="t" rtlCol="false" tIns="0" lIns="0" bIns="0" rIns="0">
            <a:spAutoFit/>
          </a:bodyPr>
          <a:lstStyle/>
          <a:p>
            <a:pPr algn="ctr" marL="0" indent="0" lvl="0">
              <a:lnSpc>
                <a:spcPts val="2294"/>
              </a:lnSpc>
            </a:pPr>
            <a:r>
              <a:rPr lang="en-US" b="true" sz="2144">
                <a:solidFill>
                  <a:srgbClr val="FFFFFF"/>
                </a:solidFill>
                <a:latin typeface="Poppins Bold"/>
                <a:ea typeface="Poppins Bold"/>
                <a:cs typeface="Poppins Bold"/>
                <a:sym typeface="Poppins Bold"/>
              </a:rPr>
              <a:t>Google</a:t>
            </a:r>
          </a:p>
        </p:txBody>
      </p:sp>
      <p:sp>
        <p:nvSpPr>
          <p:cNvPr name="TextBox 14" id="14"/>
          <p:cNvSpPr txBox="true"/>
          <p:nvPr/>
        </p:nvSpPr>
        <p:spPr>
          <a:xfrm rot="0">
            <a:off x="360740" y="2310991"/>
            <a:ext cx="1704171" cy="342132"/>
          </a:xfrm>
          <a:prstGeom prst="rect">
            <a:avLst/>
          </a:prstGeom>
        </p:spPr>
        <p:txBody>
          <a:bodyPr anchor="t" rtlCol="false" tIns="0" lIns="0" bIns="0" rIns="0">
            <a:spAutoFit/>
          </a:bodyPr>
          <a:lstStyle/>
          <a:p>
            <a:pPr algn="ctr" marL="0" indent="0" lvl="0">
              <a:lnSpc>
                <a:spcPts val="2419"/>
              </a:lnSpc>
            </a:pPr>
            <a:r>
              <a:rPr lang="en-US" sz="2261">
                <a:solidFill>
                  <a:srgbClr val="FFFFFF"/>
                </a:solidFill>
                <a:latin typeface="Poppins"/>
                <a:ea typeface="Poppins"/>
                <a:cs typeface="Poppins"/>
                <a:sym typeface="Poppins"/>
              </a:rPr>
              <a:t>Play Store</a:t>
            </a:r>
          </a:p>
        </p:txBody>
      </p:sp>
      <p:grpSp>
        <p:nvGrpSpPr>
          <p:cNvPr name="Group 15" id="15"/>
          <p:cNvGrpSpPr/>
          <p:nvPr/>
        </p:nvGrpSpPr>
        <p:grpSpPr>
          <a:xfrm rot="0">
            <a:off x="360740" y="8287049"/>
            <a:ext cx="1713939" cy="663286"/>
            <a:chOff x="0" y="0"/>
            <a:chExt cx="2285252" cy="884381"/>
          </a:xfrm>
        </p:grpSpPr>
        <p:sp>
          <p:nvSpPr>
            <p:cNvPr name="TextBox 16" id="16"/>
            <p:cNvSpPr txBox="true"/>
            <p:nvPr/>
          </p:nvSpPr>
          <p:spPr>
            <a:xfrm rot="0">
              <a:off x="0" y="9525"/>
              <a:ext cx="2272228" cy="418680"/>
            </a:xfrm>
            <a:prstGeom prst="rect">
              <a:avLst/>
            </a:prstGeom>
          </p:spPr>
          <p:txBody>
            <a:bodyPr anchor="t" rtlCol="false" tIns="0" lIns="0" bIns="0" rIns="0">
              <a:spAutoFit/>
            </a:bodyPr>
            <a:lstStyle/>
            <a:p>
              <a:pPr algn="ctr" marL="0" indent="0" lvl="0">
                <a:lnSpc>
                  <a:spcPts val="2294"/>
                </a:lnSpc>
              </a:pPr>
              <a:r>
                <a:rPr lang="en-US" b="true" sz="2144">
                  <a:solidFill>
                    <a:srgbClr val="FFFFFF"/>
                  </a:solidFill>
                  <a:latin typeface="Poppins Bold"/>
                  <a:ea typeface="Poppins Bold"/>
                  <a:cs typeface="Poppins Bold"/>
                  <a:sym typeface="Poppins Bold"/>
                </a:rPr>
                <a:t>Page</a:t>
              </a:r>
            </a:p>
          </p:txBody>
        </p:sp>
        <p:sp>
          <p:nvSpPr>
            <p:cNvPr name="TextBox 17" id="17"/>
            <p:cNvSpPr txBox="true"/>
            <p:nvPr/>
          </p:nvSpPr>
          <p:spPr>
            <a:xfrm rot="0">
              <a:off x="13024" y="428205"/>
              <a:ext cx="2272228" cy="456176"/>
            </a:xfrm>
            <a:prstGeom prst="rect">
              <a:avLst/>
            </a:prstGeom>
          </p:spPr>
          <p:txBody>
            <a:bodyPr anchor="t" rtlCol="false" tIns="0" lIns="0" bIns="0" rIns="0">
              <a:spAutoFit/>
            </a:bodyPr>
            <a:lstStyle/>
            <a:p>
              <a:pPr algn="ctr" marL="0" indent="0" lvl="0">
                <a:lnSpc>
                  <a:spcPts val="2419"/>
                </a:lnSpc>
              </a:pPr>
              <a:r>
                <a:rPr lang="en-US" sz="2261">
                  <a:solidFill>
                    <a:srgbClr val="FFFFFF"/>
                  </a:solidFill>
                  <a:latin typeface="Poppins"/>
                  <a:ea typeface="Poppins"/>
                  <a:cs typeface="Poppins"/>
                  <a:sym typeface="Poppins"/>
                </a:rPr>
                <a:t>9 of 11</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1311" y="0"/>
            <a:ext cx="546689" cy="7173190"/>
            <a:chOff x="0" y="0"/>
            <a:chExt cx="143984" cy="1889235"/>
          </a:xfrm>
        </p:grpSpPr>
        <p:sp>
          <p:nvSpPr>
            <p:cNvPr name="Freeform 3" id="3"/>
            <p:cNvSpPr/>
            <p:nvPr/>
          </p:nvSpPr>
          <p:spPr>
            <a:xfrm flipH="false" flipV="false" rot="0">
              <a:off x="0" y="0"/>
              <a:ext cx="143984" cy="1889235"/>
            </a:xfrm>
            <a:custGeom>
              <a:avLst/>
              <a:gdLst/>
              <a:ahLst/>
              <a:cxnLst/>
              <a:rect r="r" b="b" t="t" l="l"/>
              <a:pathLst>
                <a:path h="1889235" w="143984">
                  <a:moveTo>
                    <a:pt x="0" y="0"/>
                  </a:moveTo>
                  <a:lnTo>
                    <a:pt x="143984" y="0"/>
                  </a:lnTo>
                  <a:lnTo>
                    <a:pt x="143984" y="1889235"/>
                  </a:lnTo>
                  <a:lnTo>
                    <a:pt x="0" y="1889235"/>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143984" cy="192733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5" id="5"/>
          <p:cNvSpPr/>
          <p:nvPr/>
        </p:nvSpPr>
        <p:spPr>
          <a:xfrm flipH="true">
            <a:off x="4442685" y="0"/>
            <a:ext cx="0" cy="10287000"/>
          </a:xfrm>
          <a:prstGeom prst="line">
            <a:avLst/>
          </a:prstGeom>
          <a:ln cap="rnd" w="19050">
            <a:solidFill>
              <a:srgbClr val="3A58E4"/>
            </a:solidFill>
            <a:prstDash val="solid"/>
            <a:headEnd type="none" len="sm" w="sm"/>
            <a:tailEnd type="none" len="sm" w="sm"/>
          </a:ln>
        </p:spPr>
      </p:sp>
      <p:sp>
        <p:nvSpPr>
          <p:cNvPr name="AutoShape 6" id="6"/>
          <p:cNvSpPr/>
          <p:nvPr/>
        </p:nvSpPr>
        <p:spPr>
          <a:xfrm>
            <a:off x="8872264" y="0"/>
            <a:ext cx="0" cy="7163665"/>
          </a:xfrm>
          <a:prstGeom prst="line">
            <a:avLst/>
          </a:prstGeom>
          <a:ln cap="rnd" w="19050">
            <a:solidFill>
              <a:srgbClr val="3A58E4"/>
            </a:solidFill>
            <a:prstDash val="solid"/>
            <a:headEnd type="none" len="sm" w="sm"/>
            <a:tailEnd type="none" len="sm" w="sm"/>
          </a:ln>
        </p:spPr>
      </p:sp>
      <p:sp>
        <p:nvSpPr>
          <p:cNvPr name="AutoShape 7" id="7"/>
          <p:cNvSpPr/>
          <p:nvPr/>
        </p:nvSpPr>
        <p:spPr>
          <a:xfrm>
            <a:off x="13301844" y="0"/>
            <a:ext cx="0" cy="7163665"/>
          </a:xfrm>
          <a:prstGeom prst="line">
            <a:avLst/>
          </a:prstGeom>
          <a:ln cap="rnd" w="19050">
            <a:solidFill>
              <a:srgbClr val="3A58E4"/>
            </a:solidFill>
            <a:prstDash val="solid"/>
            <a:headEnd type="none" len="sm" w="sm"/>
            <a:tailEnd type="none" len="sm" w="sm"/>
          </a:ln>
        </p:spPr>
      </p:sp>
      <p:sp>
        <p:nvSpPr>
          <p:cNvPr name="AutoShape 8" id="8"/>
          <p:cNvSpPr/>
          <p:nvPr/>
        </p:nvSpPr>
        <p:spPr>
          <a:xfrm>
            <a:off x="0" y="7173190"/>
            <a:ext cx="18288000" cy="0"/>
          </a:xfrm>
          <a:prstGeom prst="line">
            <a:avLst/>
          </a:prstGeom>
          <a:ln cap="rnd" w="19050">
            <a:solidFill>
              <a:srgbClr val="3A58E4"/>
            </a:solidFill>
            <a:prstDash val="solid"/>
            <a:headEnd type="none" len="sm" w="sm"/>
            <a:tailEnd type="none" len="sm" w="sm"/>
          </a:ln>
        </p:spPr>
      </p:sp>
      <p:grpSp>
        <p:nvGrpSpPr>
          <p:cNvPr name="Group 9" id="9"/>
          <p:cNvGrpSpPr/>
          <p:nvPr/>
        </p:nvGrpSpPr>
        <p:grpSpPr>
          <a:xfrm rot="0">
            <a:off x="16305" y="9608"/>
            <a:ext cx="1197405" cy="1196165"/>
            <a:chOff x="0" y="0"/>
            <a:chExt cx="1596540" cy="1594886"/>
          </a:xfrm>
        </p:grpSpPr>
        <p:grpSp>
          <p:nvGrpSpPr>
            <p:cNvPr name="Group 10" id="10"/>
            <p:cNvGrpSpPr/>
            <p:nvPr/>
          </p:nvGrpSpPr>
          <p:grpSpPr>
            <a:xfrm rot="0">
              <a:off x="0" y="0"/>
              <a:ext cx="1596540" cy="1594886"/>
              <a:chOff x="0" y="0"/>
              <a:chExt cx="787566" cy="786750"/>
            </a:xfrm>
          </p:grpSpPr>
          <p:sp>
            <p:nvSpPr>
              <p:cNvPr name="Freeform 11" id="1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2" id="1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01</a:t>
              </a:r>
            </a:p>
          </p:txBody>
        </p:sp>
      </p:grpSp>
      <p:grpSp>
        <p:nvGrpSpPr>
          <p:cNvPr name="Group 14" id="14"/>
          <p:cNvGrpSpPr/>
          <p:nvPr/>
        </p:nvGrpSpPr>
        <p:grpSpPr>
          <a:xfrm rot="0">
            <a:off x="4442685" y="9608"/>
            <a:ext cx="1197405" cy="1196165"/>
            <a:chOff x="0" y="0"/>
            <a:chExt cx="1596540" cy="1594886"/>
          </a:xfrm>
        </p:grpSpPr>
        <p:grpSp>
          <p:nvGrpSpPr>
            <p:cNvPr name="Group 15" id="15"/>
            <p:cNvGrpSpPr/>
            <p:nvPr/>
          </p:nvGrpSpPr>
          <p:grpSpPr>
            <a:xfrm rot="0">
              <a:off x="0" y="0"/>
              <a:ext cx="1596540" cy="1594886"/>
              <a:chOff x="0" y="0"/>
              <a:chExt cx="787566" cy="786750"/>
            </a:xfrm>
          </p:grpSpPr>
          <p:sp>
            <p:nvSpPr>
              <p:cNvPr name="Freeform 16" id="16"/>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8" id="18"/>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02</a:t>
              </a:r>
            </a:p>
          </p:txBody>
        </p:sp>
      </p:grpSp>
      <p:grpSp>
        <p:nvGrpSpPr>
          <p:cNvPr name="Group 19" id="19"/>
          <p:cNvGrpSpPr/>
          <p:nvPr/>
        </p:nvGrpSpPr>
        <p:grpSpPr>
          <a:xfrm rot="0">
            <a:off x="8875845" y="9608"/>
            <a:ext cx="1197405" cy="1196165"/>
            <a:chOff x="0" y="0"/>
            <a:chExt cx="1596540" cy="1594886"/>
          </a:xfrm>
        </p:grpSpPr>
        <p:grpSp>
          <p:nvGrpSpPr>
            <p:cNvPr name="Group 20" id="20"/>
            <p:cNvGrpSpPr/>
            <p:nvPr/>
          </p:nvGrpSpPr>
          <p:grpSpPr>
            <a:xfrm rot="0">
              <a:off x="0" y="0"/>
              <a:ext cx="1596540" cy="1594886"/>
              <a:chOff x="0" y="0"/>
              <a:chExt cx="787566" cy="786750"/>
            </a:xfrm>
          </p:grpSpPr>
          <p:sp>
            <p:nvSpPr>
              <p:cNvPr name="Freeform 21" id="2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2" id="2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3" id="23"/>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03</a:t>
              </a:r>
            </a:p>
          </p:txBody>
        </p:sp>
      </p:grpSp>
      <p:grpSp>
        <p:nvGrpSpPr>
          <p:cNvPr name="Group 24" id="24"/>
          <p:cNvGrpSpPr/>
          <p:nvPr/>
        </p:nvGrpSpPr>
        <p:grpSpPr>
          <a:xfrm rot="0">
            <a:off x="13309005" y="9608"/>
            <a:ext cx="1197405" cy="1196165"/>
            <a:chOff x="0" y="0"/>
            <a:chExt cx="1596540" cy="1594886"/>
          </a:xfrm>
        </p:grpSpPr>
        <p:grpSp>
          <p:nvGrpSpPr>
            <p:cNvPr name="Group 25" id="25"/>
            <p:cNvGrpSpPr/>
            <p:nvPr/>
          </p:nvGrpSpPr>
          <p:grpSpPr>
            <a:xfrm rot="0">
              <a:off x="0" y="0"/>
              <a:ext cx="1596540" cy="1594886"/>
              <a:chOff x="0" y="0"/>
              <a:chExt cx="787566" cy="786750"/>
            </a:xfrm>
          </p:grpSpPr>
          <p:sp>
            <p:nvSpPr>
              <p:cNvPr name="Freeform 26" id="26"/>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7" id="27"/>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8" id="28"/>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04</a:t>
              </a:r>
            </a:p>
          </p:txBody>
        </p:sp>
      </p:grpSp>
      <p:sp>
        <p:nvSpPr>
          <p:cNvPr name="Freeform 29" id="29"/>
          <p:cNvSpPr/>
          <p:nvPr/>
        </p:nvSpPr>
        <p:spPr>
          <a:xfrm flipH="false" flipV="false" rot="0">
            <a:off x="10611365" y="1458055"/>
            <a:ext cx="908389" cy="1493863"/>
          </a:xfrm>
          <a:custGeom>
            <a:avLst/>
            <a:gdLst/>
            <a:ahLst/>
            <a:cxnLst/>
            <a:rect r="r" b="b" t="t" l="l"/>
            <a:pathLst>
              <a:path h="1493863" w="908389">
                <a:moveTo>
                  <a:pt x="0" y="0"/>
                </a:moveTo>
                <a:lnTo>
                  <a:pt x="908389" y="0"/>
                </a:lnTo>
                <a:lnTo>
                  <a:pt x="908389" y="1493863"/>
                </a:lnTo>
                <a:lnTo>
                  <a:pt x="0" y="1493863"/>
                </a:lnTo>
                <a:lnTo>
                  <a:pt x="0" y="0"/>
                </a:lnTo>
                <a:close/>
              </a:path>
            </a:pathLst>
          </a:custGeom>
          <a:blipFill>
            <a:blip r:embed="rId2"/>
            <a:stretch>
              <a:fillRect l="0" t="0" r="0" b="0"/>
            </a:stretch>
          </a:blipFill>
        </p:spPr>
      </p:sp>
      <p:sp>
        <p:nvSpPr>
          <p:cNvPr name="Freeform 30" id="30"/>
          <p:cNvSpPr/>
          <p:nvPr/>
        </p:nvSpPr>
        <p:spPr>
          <a:xfrm flipH="false" flipV="false" rot="0">
            <a:off x="1600658" y="1771943"/>
            <a:ext cx="1275429" cy="983094"/>
          </a:xfrm>
          <a:custGeom>
            <a:avLst/>
            <a:gdLst/>
            <a:ahLst/>
            <a:cxnLst/>
            <a:rect r="r" b="b" t="t" l="l"/>
            <a:pathLst>
              <a:path h="983094" w="1275429">
                <a:moveTo>
                  <a:pt x="0" y="0"/>
                </a:moveTo>
                <a:lnTo>
                  <a:pt x="1275429" y="0"/>
                </a:lnTo>
                <a:lnTo>
                  <a:pt x="1275429" y="983094"/>
                </a:lnTo>
                <a:lnTo>
                  <a:pt x="0" y="983094"/>
                </a:lnTo>
                <a:lnTo>
                  <a:pt x="0" y="0"/>
                </a:lnTo>
                <a:close/>
              </a:path>
            </a:pathLst>
          </a:custGeom>
          <a:blipFill>
            <a:blip r:embed="rId3"/>
            <a:stretch>
              <a:fillRect l="0" t="0" r="0" b="0"/>
            </a:stretch>
          </a:blipFill>
        </p:spPr>
      </p:sp>
      <p:grpSp>
        <p:nvGrpSpPr>
          <p:cNvPr name="Group 31" id="31"/>
          <p:cNvGrpSpPr/>
          <p:nvPr/>
        </p:nvGrpSpPr>
        <p:grpSpPr>
          <a:xfrm rot="0">
            <a:off x="1028700" y="8125800"/>
            <a:ext cx="22757" cy="975106"/>
            <a:chOff x="0" y="0"/>
            <a:chExt cx="12543" cy="537460"/>
          </a:xfrm>
        </p:grpSpPr>
        <p:sp>
          <p:nvSpPr>
            <p:cNvPr name="Freeform 32" id="32"/>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33" id="33"/>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4" id="34"/>
          <p:cNvGrpSpPr/>
          <p:nvPr/>
        </p:nvGrpSpPr>
        <p:grpSpPr>
          <a:xfrm rot="0">
            <a:off x="-9525" y="7173190"/>
            <a:ext cx="546689" cy="3113810"/>
            <a:chOff x="0" y="0"/>
            <a:chExt cx="143984" cy="820098"/>
          </a:xfrm>
        </p:grpSpPr>
        <p:sp>
          <p:nvSpPr>
            <p:cNvPr name="Freeform 35" id="35"/>
            <p:cNvSpPr/>
            <p:nvPr/>
          </p:nvSpPr>
          <p:spPr>
            <a:xfrm flipH="false" flipV="false" rot="0">
              <a:off x="0" y="0"/>
              <a:ext cx="143984" cy="820098"/>
            </a:xfrm>
            <a:custGeom>
              <a:avLst/>
              <a:gdLst/>
              <a:ahLst/>
              <a:cxnLst/>
              <a:rect r="r" b="b" t="t" l="l"/>
              <a:pathLst>
                <a:path h="820098" w="143984">
                  <a:moveTo>
                    <a:pt x="0" y="0"/>
                  </a:moveTo>
                  <a:lnTo>
                    <a:pt x="143984" y="0"/>
                  </a:lnTo>
                  <a:lnTo>
                    <a:pt x="143984" y="820098"/>
                  </a:lnTo>
                  <a:lnTo>
                    <a:pt x="0" y="820098"/>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36" id="36"/>
            <p:cNvSpPr txBox="true"/>
            <p:nvPr/>
          </p:nvSpPr>
          <p:spPr>
            <a:xfrm>
              <a:off x="0" y="-38100"/>
              <a:ext cx="143984" cy="85819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7" id="37"/>
          <p:cNvSpPr/>
          <p:nvPr/>
        </p:nvSpPr>
        <p:spPr>
          <a:xfrm flipH="false" flipV="false" rot="0">
            <a:off x="6114763" y="1712295"/>
            <a:ext cx="1159493" cy="1159493"/>
          </a:xfrm>
          <a:custGeom>
            <a:avLst/>
            <a:gdLst/>
            <a:ahLst/>
            <a:cxnLst/>
            <a:rect r="r" b="b" t="t" l="l"/>
            <a:pathLst>
              <a:path h="1159493" w="1159493">
                <a:moveTo>
                  <a:pt x="0" y="0"/>
                </a:moveTo>
                <a:lnTo>
                  <a:pt x="1159493" y="0"/>
                </a:lnTo>
                <a:lnTo>
                  <a:pt x="1159493" y="1159493"/>
                </a:lnTo>
                <a:lnTo>
                  <a:pt x="0" y="1159493"/>
                </a:lnTo>
                <a:lnTo>
                  <a:pt x="0" y="0"/>
                </a:lnTo>
                <a:close/>
              </a:path>
            </a:pathLst>
          </a:custGeom>
          <a:blipFill>
            <a:blip r:embed="rId4"/>
            <a:stretch>
              <a:fillRect l="0" t="0" r="0" b="0"/>
            </a:stretch>
          </a:blipFill>
        </p:spPr>
      </p:sp>
      <p:sp>
        <p:nvSpPr>
          <p:cNvPr name="Freeform 38" id="38"/>
          <p:cNvSpPr/>
          <p:nvPr/>
        </p:nvSpPr>
        <p:spPr>
          <a:xfrm flipH="false" flipV="false" rot="0">
            <a:off x="14561570" y="1564825"/>
            <a:ext cx="1903185" cy="1280324"/>
          </a:xfrm>
          <a:custGeom>
            <a:avLst/>
            <a:gdLst/>
            <a:ahLst/>
            <a:cxnLst/>
            <a:rect r="r" b="b" t="t" l="l"/>
            <a:pathLst>
              <a:path h="1280324" w="1903185">
                <a:moveTo>
                  <a:pt x="0" y="0"/>
                </a:moveTo>
                <a:lnTo>
                  <a:pt x="1903185" y="0"/>
                </a:lnTo>
                <a:lnTo>
                  <a:pt x="1903185" y="1280324"/>
                </a:lnTo>
                <a:lnTo>
                  <a:pt x="0" y="12803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9" id="39"/>
          <p:cNvSpPr txBox="true"/>
          <p:nvPr/>
        </p:nvSpPr>
        <p:spPr>
          <a:xfrm rot="0">
            <a:off x="562973" y="4170724"/>
            <a:ext cx="3336787" cy="2147910"/>
          </a:xfrm>
          <a:prstGeom prst="rect">
            <a:avLst/>
          </a:prstGeom>
        </p:spPr>
        <p:txBody>
          <a:bodyPr anchor="t" rtlCol="false" tIns="0" lIns="0" bIns="0" rIns="0">
            <a:spAutoFit/>
          </a:bodyPr>
          <a:lstStyle/>
          <a:p>
            <a:pPr algn="l" marL="0" indent="0" lvl="0">
              <a:lnSpc>
                <a:spcPts val="2435"/>
              </a:lnSpc>
            </a:pPr>
            <a:r>
              <a:rPr lang="en-US" sz="1873" spc="-5">
                <a:solidFill>
                  <a:srgbClr val="3A58E4"/>
                </a:solidFill>
                <a:latin typeface="Poppins"/>
                <a:ea typeface="Poppins"/>
                <a:cs typeface="Poppins"/>
                <a:sym typeface="Poppins"/>
              </a:rPr>
              <a:t>Improve application quality and ratings. Increase customer reviews and engagement. Optimize Play Store listings for discoverability and conversion.</a:t>
            </a:r>
          </a:p>
        </p:txBody>
      </p:sp>
      <p:sp>
        <p:nvSpPr>
          <p:cNvPr name="TextBox 40" id="40"/>
          <p:cNvSpPr txBox="true"/>
          <p:nvPr/>
        </p:nvSpPr>
        <p:spPr>
          <a:xfrm rot="0">
            <a:off x="4989081" y="4170724"/>
            <a:ext cx="3336787" cy="1843110"/>
          </a:xfrm>
          <a:prstGeom prst="rect">
            <a:avLst/>
          </a:prstGeom>
        </p:spPr>
        <p:txBody>
          <a:bodyPr anchor="t" rtlCol="false" tIns="0" lIns="0" bIns="0" rIns="0">
            <a:spAutoFit/>
          </a:bodyPr>
          <a:lstStyle/>
          <a:p>
            <a:pPr algn="l" marL="0" indent="0" lvl="0">
              <a:lnSpc>
                <a:spcPts val="2435"/>
              </a:lnSpc>
            </a:pPr>
            <a:r>
              <a:rPr lang="en-US" sz="1873" spc="-5">
                <a:solidFill>
                  <a:srgbClr val="3A58E4"/>
                </a:solidFill>
                <a:latin typeface="Poppins"/>
                <a:ea typeface="Poppins"/>
                <a:cs typeface="Poppins"/>
                <a:sym typeface="Poppins"/>
              </a:rPr>
              <a:t>Focus investments on high-growth categories. Adopt Freemium pricing models to balance revenue and installs. Enhance user retention programs.</a:t>
            </a:r>
          </a:p>
        </p:txBody>
      </p:sp>
      <p:sp>
        <p:nvSpPr>
          <p:cNvPr name="TextBox 41" id="41"/>
          <p:cNvSpPr txBox="true"/>
          <p:nvPr/>
        </p:nvSpPr>
        <p:spPr>
          <a:xfrm rot="0">
            <a:off x="9415189" y="4170724"/>
            <a:ext cx="3336787" cy="2147910"/>
          </a:xfrm>
          <a:prstGeom prst="rect">
            <a:avLst/>
          </a:prstGeom>
        </p:spPr>
        <p:txBody>
          <a:bodyPr anchor="t" rtlCol="false" tIns="0" lIns="0" bIns="0" rIns="0">
            <a:spAutoFit/>
          </a:bodyPr>
          <a:lstStyle/>
          <a:p>
            <a:pPr algn="l" marL="0" indent="0" lvl="0">
              <a:lnSpc>
                <a:spcPts val="2435"/>
              </a:lnSpc>
            </a:pPr>
            <a:r>
              <a:rPr lang="en-US" sz="1873" spc="-5">
                <a:solidFill>
                  <a:srgbClr val="3A58E4"/>
                </a:solidFill>
                <a:latin typeface="Poppins"/>
                <a:ea typeface="Poppins"/>
                <a:cs typeface="Poppins"/>
                <a:sym typeface="Poppins"/>
              </a:rPr>
              <a:t>Implement Machine Learning for predictive analytics. Develop Recommendation Systems for personalized user experience. Build Real-Time Dashboards.</a:t>
            </a:r>
          </a:p>
        </p:txBody>
      </p:sp>
      <p:sp>
        <p:nvSpPr>
          <p:cNvPr name="TextBox 42" id="42"/>
          <p:cNvSpPr txBox="true"/>
          <p:nvPr/>
        </p:nvSpPr>
        <p:spPr>
          <a:xfrm rot="0">
            <a:off x="13844769" y="4170724"/>
            <a:ext cx="3336787" cy="2147910"/>
          </a:xfrm>
          <a:prstGeom prst="rect">
            <a:avLst/>
          </a:prstGeom>
        </p:spPr>
        <p:txBody>
          <a:bodyPr anchor="t" rtlCol="false" tIns="0" lIns="0" bIns="0" rIns="0">
            <a:spAutoFit/>
          </a:bodyPr>
          <a:lstStyle/>
          <a:p>
            <a:pPr algn="l" marL="0" indent="0" lvl="0">
              <a:lnSpc>
                <a:spcPts val="2435"/>
              </a:lnSpc>
            </a:pPr>
            <a:r>
              <a:rPr lang="en-US" sz="1873" spc="-5">
                <a:solidFill>
                  <a:srgbClr val="3A58E4"/>
                </a:solidFill>
                <a:latin typeface="Poppins"/>
                <a:ea typeface="Poppins"/>
                <a:cs typeface="Poppins"/>
                <a:sym typeface="Poppins"/>
              </a:rPr>
              <a:t>A phased approach from quick wins to long-term innovation ensures sustainable growth, improved monetization, and data-driven competitive advantage.</a:t>
            </a:r>
          </a:p>
        </p:txBody>
      </p:sp>
      <p:sp>
        <p:nvSpPr>
          <p:cNvPr name="TextBox 43" id="43"/>
          <p:cNvSpPr txBox="true"/>
          <p:nvPr/>
        </p:nvSpPr>
        <p:spPr>
          <a:xfrm rot="0">
            <a:off x="1137678" y="7779280"/>
            <a:ext cx="2762082" cy="1479020"/>
          </a:xfrm>
          <a:prstGeom prst="rect">
            <a:avLst/>
          </a:prstGeom>
        </p:spPr>
        <p:txBody>
          <a:bodyPr anchor="t" rtlCol="false" tIns="0" lIns="0" bIns="0" rIns="0">
            <a:spAutoFit/>
          </a:bodyPr>
          <a:lstStyle/>
          <a:p>
            <a:pPr algn="l" marL="0" indent="0" lvl="0">
              <a:lnSpc>
                <a:spcPts val="3816"/>
              </a:lnSpc>
            </a:pPr>
            <a:r>
              <a:rPr lang="en-US" sz="3894" spc="-249">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Business</a:t>
            </a:r>
          </a:p>
          <a:p>
            <a:pPr algn="l" marL="0" indent="0" lvl="0">
              <a:lnSpc>
                <a:spcPts val="3816"/>
              </a:lnSpc>
            </a:pPr>
            <a:r>
              <a:rPr lang="en-US" sz="3894" spc="-249">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Recommendations</a:t>
            </a:r>
          </a:p>
        </p:txBody>
      </p:sp>
      <p:sp>
        <p:nvSpPr>
          <p:cNvPr name="TextBox 44" id="44"/>
          <p:cNvSpPr txBox="true"/>
          <p:nvPr/>
        </p:nvSpPr>
        <p:spPr>
          <a:xfrm rot="0">
            <a:off x="4989081" y="7753829"/>
            <a:ext cx="7762895" cy="1347078"/>
          </a:xfrm>
          <a:prstGeom prst="rect">
            <a:avLst/>
          </a:prstGeom>
        </p:spPr>
        <p:txBody>
          <a:bodyPr anchor="t" rtlCol="false" tIns="0" lIns="0" bIns="0" rIns="0">
            <a:spAutoFit/>
          </a:bodyPr>
          <a:lstStyle/>
          <a:p>
            <a:pPr algn="just" marL="0" indent="0" lvl="0">
              <a:lnSpc>
                <a:spcPts val="2660"/>
              </a:lnSpc>
            </a:pPr>
            <a:r>
              <a:rPr lang="en-US" sz="1900" spc="-5">
                <a:solidFill>
                  <a:srgbClr val="3A58E4"/>
                </a:solidFill>
                <a:latin typeface="Poppins"/>
                <a:ea typeface="Poppins"/>
                <a:cs typeface="Poppins"/>
                <a:sym typeface="Poppins"/>
              </a:rPr>
              <a:t>A structured roadmap translating key insights into actionable strategies — from immediate operational improvements to strategic investments and future-ready innovations powered by machine learning and real-time analytics.</a:t>
            </a:r>
          </a:p>
        </p:txBody>
      </p:sp>
      <p:sp>
        <p:nvSpPr>
          <p:cNvPr name="TextBox 45" id="45"/>
          <p:cNvSpPr txBox="true"/>
          <p:nvPr/>
        </p:nvSpPr>
        <p:spPr>
          <a:xfrm rot="0">
            <a:off x="512270" y="3090400"/>
            <a:ext cx="3438193" cy="825162"/>
          </a:xfrm>
          <a:prstGeom prst="rect">
            <a:avLst/>
          </a:prstGeom>
        </p:spPr>
        <p:txBody>
          <a:bodyPr anchor="t" rtlCol="false" tIns="0" lIns="0" bIns="0" rIns="0">
            <a:spAutoFit/>
          </a:bodyPr>
          <a:lstStyle/>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IMMEDIATE</a:t>
            </a:r>
          </a:p>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ACTIONS</a:t>
            </a:r>
          </a:p>
        </p:txBody>
      </p:sp>
      <p:sp>
        <p:nvSpPr>
          <p:cNvPr name="TextBox 46" id="46"/>
          <p:cNvSpPr txBox="true"/>
          <p:nvPr/>
        </p:nvSpPr>
        <p:spPr>
          <a:xfrm rot="0">
            <a:off x="4938378" y="3090400"/>
            <a:ext cx="3438193" cy="825162"/>
          </a:xfrm>
          <a:prstGeom prst="rect">
            <a:avLst/>
          </a:prstGeom>
        </p:spPr>
        <p:txBody>
          <a:bodyPr anchor="t" rtlCol="false" tIns="0" lIns="0" bIns="0" rIns="0">
            <a:spAutoFit/>
          </a:bodyPr>
          <a:lstStyle/>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STRATEGIC</a:t>
            </a:r>
          </a:p>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ACTIONS</a:t>
            </a:r>
          </a:p>
        </p:txBody>
      </p:sp>
      <p:sp>
        <p:nvSpPr>
          <p:cNvPr name="TextBox 47" id="47"/>
          <p:cNvSpPr txBox="true"/>
          <p:nvPr/>
        </p:nvSpPr>
        <p:spPr>
          <a:xfrm rot="0">
            <a:off x="9364486" y="3090400"/>
            <a:ext cx="3438193" cy="825162"/>
          </a:xfrm>
          <a:prstGeom prst="rect">
            <a:avLst/>
          </a:prstGeom>
        </p:spPr>
        <p:txBody>
          <a:bodyPr anchor="t" rtlCol="false" tIns="0" lIns="0" bIns="0" rIns="0">
            <a:spAutoFit/>
          </a:bodyPr>
          <a:lstStyle/>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FUTURE</a:t>
            </a:r>
          </a:p>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SCOPE</a:t>
            </a:r>
          </a:p>
        </p:txBody>
      </p:sp>
      <p:sp>
        <p:nvSpPr>
          <p:cNvPr name="TextBox 48" id="48"/>
          <p:cNvSpPr txBox="true"/>
          <p:nvPr/>
        </p:nvSpPr>
        <p:spPr>
          <a:xfrm rot="0">
            <a:off x="13794066" y="3090400"/>
            <a:ext cx="3438193" cy="825162"/>
          </a:xfrm>
          <a:prstGeom prst="rect">
            <a:avLst/>
          </a:prstGeom>
        </p:spPr>
        <p:txBody>
          <a:bodyPr anchor="t" rtlCol="false" tIns="0" lIns="0" bIns="0" rIns="0">
            <a:spAutoFit/>
          </a:bodyPr>
          <a:lstStyle/>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ROADMAP</a:t>
            </a:r>
          </a:p>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OVERVIEW</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3779" y="7320991"/>
            <a:ext cx="591346" cy="416093"/>
          </a:xfrm>
          <a:custGeom>
            <a:avLst/>
            <a:gdLst/>
            <a:ahLst/>
            <a:cxnLst/>
            <a:rect r="r" b="b" t="t" l="l"/>
            <a:pathLst>
              <a:path h="416093" w="591346">
                <a:moveTo>
                  <a:pt x="0" y="0"/>
                </a:moveTo>
                <a:lnTo>
                  <a:pt x="591346" y="0"/>
                </a:lnTo>
                <a:lnTo>
                  <a:pt x="591346" y="416093"/>
                </a:lnTo>
                <a:lnTo>
                  <a:pt x="0" y="416093"/>
                </a:lnTo>
                <a:lnTo>
                  <a:pt x="0" y="0"/>
                </a:lnTo>
                <a:close/>
              </a:path>
            </a:pathLst>
          </a:custGeom>
          <a:blipFill>
            <a:blip r:embed="rId2"/>
            <a:stretch>
              <a:fillRect l="0" t="0" r="0" b="0"/>
            </a:stretch>
          </a:blipFill>
        </p:spPr>
      </p:sp>
      <p:sp>
        <p:nvSpPr>
          <p:cNvPr name="Freeform 3" id="3"/>
          <p:cNvSpPr/>
          <p:nvPr/>
        </p:nvSpPr>
        <p:spPr>
          <a:xfrm flipH="false" flipV="false" rot="0">
            <a:off x="1072876" y="8007437"/>
            <a:ext cx="351918" cy="441831"/>
          </a:xfrm>
          <a:custGeom>
            <a:avLst/>
            <a:gdLst/>
            <a:ahLst/>
            <a:cxnLst/>
            <a:rect r="r" b="b" t="t" l="l"/>
            <a:pathLst>
              <a:path h="441831" w="351918">
                <a:moveTo>
                  <a:pt x="0" y="0"/>
                </a:moveTo>
                <a:lnTo>
                  <a:pt x="351918" y="0"/>
                </a:lnTo>
                <a:lnTo>
                  <a:pt x="351918" y="441831"/>
                </a:lnTo>
                <a:lnTo>
                  <a:pt x="0" y="441831"/>
                </a:lnTo>
                <a:lnTo>
                  <a:pt x="0" y="0"/>
                </a:lnTo>
                <a:close/>
              </a:path>
            </a:pathLst>
          </a:custGeom>
          <a:blipFill>
            <a:blip r:embed="rId3"/>
            <a:stretch>
              <a:fillRect l="0" t="0" r="0" b="0"/>
            </a:stretch>
          </a:blipFill>
        </p:spPr>
      </p:sp>
      <p:sp>
        <p:nvSpPr>
          <p:cNvPr name="Freeform 4" id="4"/>
          <p:cNvSpPr/>
          <p:nvPr/>
        </p:nvSpPr>
        <p:spPr>
          <a:xfrm flipH="false" flipV="false" rot="0">
            <a:off x="1036493" y="8640409"/>
            <a:ext cx="491599" cy="499839"/>
          </a:xfrm>
          <a:custGeom>
            <a:avLst/>
            <a:gdLst/>
            <a:ahLst/>
            <a:cxnLst/>
            <a:rect r="r" b="b" t="t" l="l"/>
            <a:pathLst>
              <a:path h="499839" w="491599">
                <a:moveTo>
                  <a:pt x="0" y="0"/>
                </a:moveTo>
                <a:lnTo>
                  <a:pt x="491600" y="0"/>
                </a:lnTo>
                <a:lnTo>
                  <a:pt x="491600" y="499839"/>
                </a:lnTo>
                <a:lnTo>
                  <a:pt x="0" y="499839"/>
                </a:lnTo>
                <a:lnTo>
                  <a:pt x="0" y="0"/>
                </a:lnTo>
                <a:close/>
              </a:path>
            </a:pathLst>
          </a:custGeom>
          <a:blipFill>
            <a:blip r:embed="rId4"/>
            <a:stretch>
              <a:fillRect l="0" t="0" r="0" b="0"/>
            </a:stretch>
          </a:blipFill>
        </p:spPr>
      </p:sp>
      <p:grpSp>
        <p:nvGrpSpPr>
          <p:cNvPr name="Group 5" id="5"/>
          <p:cNvGrpSpPr/>
          <p:nvPr/>
        </p:nvGrpSpPr>
        <p:grpSpPr>
          <a:xfrm rot="0">
            <a:off x="9313191" y="-196391"/>
            <a:ext cx="8974809" cy="10287000"/>
            <a:chOff x="0" y="0"/>
            <a:chExt cx="1390433" cy="1593725"/>
          </a:xfrm>
        </p:grpSpPr>
        <p:sp>
          <p:nvSpPr>
            <p:cNvPr name="Freeform 6" id="6"/>
            <p:cNvSpPr/>
            <p:nvPr/>
          </p:nvSpPr>
          <p:spPr>
            <a:xfrm flipH="false" flipV="false" rot="0">
              <a:off x="0" y="0"/>
              <a:ext cx="1390433" cy="1593725"/>
            </a:xfrm>
            <a:custGeom>
              <a:avLst/>
              <a:gdLst/>
              <a:ahLst/>
              <a:cxnLst/>
              <a:rect r="r" b="b" t="t" l="l"/>
              <a:pathLst>
                <a:path h="1593725" w="1390433">
                  <a:moveTo>
                    <a:pt x="0" y="0"/>
                  </a:moveTo>
                  <a:lnTo>
                    <a:pt x="1390433" y="0"/>
                  </a:lnTo>
                  <a:lnTo>
                    <a:pt x="1390433" y="1593725"/>
                  </a:lnTo>
                  <a:lnTo>
                    <a:pt x="0" y="1593725"/>
                  </a:lnTo>
                  <a:close/>
                </a:path>
              </a:pathLst>
            </a:custGeom>
            <a:blipFill>
              <a:blip r:embed="rId5"/>
              <a:stretch>
                <a:fillRect l="0" t="-52640" r="0" b="-52640"/>
              </a:stretch>
            </a:blipFill>
          </p:spPr>
        </p:sp>
      </p:grpSp>
      <p:sp>
        <p:nvSpPr>
          <p:cNvPr name="TextBox 7" id="7"/>
          <p:cNvSpPr txBox="true"/>
          <p:nvPr/>
        </p:nvSpPr>
        <p:spPr>
          <a:xfrm rot="0">
            <a:off x="1638585" y="7324490"/>
            <a:ext cx="2891575" cy="330974"/>
          </a:xfrm>
          <a:prstGeom prst="rect">
            <a:avLst/>
          </a:prstGeom>
        </p:spPr>
        <p:txBody>
          <a:bodyPr anchor="t" rtlCol="false" tIns="0" lIns="0" bIns="0" rIns="0">
            <a:spAutoFit/>
          </a:bodyPr>
          <a:lstStyle/>
          <a:p>
            <a:pPr algn="l" marL="0" indent="0" lvl="0">
              <a:lnSpc>
                <a:spcPts val="2417"/>
              </a:lnSpc>
            </a:pPr>
            <a:r>
              <a:rPr lang="en-US" sz="2121" spc="-80">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parth.soni@email.com</a:t>
            </a:r>
          </a:p>
        </p:txBody>
      </p:sp>
      <p:sp>
        <p:nvSpPr>
          <p:cNvPr name="TextBox 8" id="8"/>
          <p:cNvSpPr txBox="true"/>
          <p:nvPr/>
        </p:nvSpPr>
        <p:spPr>
          <a:xfrm rot="0">
            <a:off x="1638585" y="7992073"/>
            <a:ext cx="5248389" cy="330974"/>
          </a:xfrm>
          <a:prstGeom prst="rect">
            <a:avLst/>
          </a:prstGeom>
        </p:spPr>
        <p:txBody>
          <a:bodyPr anchor="t" rtlCol="false" tIns="0" lIns="0" bIns="0" rIns="0">
            <a:spAutoFit/>
          </a:bodyPr>
          <a:lstStyle/>
          <a:p>
            <a:pPr algn="l" marL="0" indent="0" lvl="0">
              <a:lnSpc>
                <a:spcPts val="2417"/>
              </a:lnSpc>
            </a:pPr>
            <a:r>
              <a:rPr lang="en-US" sz="2121" spc="-80">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github.com/parthsoni</a:t>
            </a:r>
          </a:p>
        </p:txBody>
      </p:sp>
      <p:sp>
        <p:nvSpPr>
          <p:cNvPr name="TextBox 9" id="9"/>
          <p:cNvSpPr txBox="true"/>
          <p:nvPr/>
        </p:nvSpPr>
        <p:spPr>
          <a:xfrm rot="0">
            <a:off x="1638585" y="8689199"/>
            <a:ext cx="4805157" cy="330974"/>
          </a:xfrm>
          <a:prstGeom prst="rect">
            <a:avLst/>
          </a:prstGeom>
        </p:spPr>
        <p:txBody>
          <a:bodyPr anchor="t" rtlCol="false" tIns="0" lIns="0" bIns="0" rIns="0">
            <a:spAutoFit/>
          </a:bodyPr>
          <a:lstStyle/>
          <a:p>
            <a:pPr algn="l" marL="0" indent="0" lvl="0">
              <a:lnSpc>
                <a:spcPts val="2417"/>
              </a:lnSpc>
            </a:pPr>
            <a:r>
              <a:rPr lang="en-US" sz="2121" spc="-80">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linkedin.com/in/parthsoni</a:t>
            </a:r>
          </a:p>
        </p:txBody>
      </p:sp>
      <p:sp>
        <p:nvSpPr>
          <p:cNvPr name="TextBox 10" id="10"/>
          <p:cNvSpPr txBox="true"/>
          <p:nvPr/>
        </p:nvSpPr>
        <p:spPr>
          <a:xfrm rot="0">
            <a:off x="1028700" y="857250"/>
            <a:ext cx="6671890" cy="1460398"/>
          </a:xfrm>
          <a:prstGeom prst="rect">
            <a:avLst/>
          </a:prstGeom>
        </p:spPr>
        <p:txBody>
          <a:bodyPr anchor="t" rtlCol="false" tIns="0" lIns="0" bIns="0" rIns="0">
            <a:spAutoFit/>
          </a:bodyPr>
          <a:lstStyle/>
          <a:p>
            <a:pPr algn="l" marL="0" indent="0" lvl="0">
              <a:lnSpc>
                <a:spcPts val="11905"/>
              </a:lnSpc>
              <a:spcBef>
                <a:spcPct val="0"/>
              </a:spcBef>
            </a:pPr>
            <a:r>
              <a:rPr lang="en-US" b="true" sz="8504" spc="-544">
                <a:gradFill>
                  <a:gsLst>
                    <a:gs pos="0">
                      <a:srgbClr val="293E9C">
                        <a:alpha val="100000"/>
                      </a:srgbClr>
                    </a:gs>
                    <a:gs pos="100000">
                      <a:srgbClr val="3A58E4">
                        <a:alpha val="100000"/>
                      </a:srgbClr>
                    </a:gs>
                  </a:gsLst>
                  <a:path path="circle">
                    <a:fillToRect l="0" r="100000" t="0" b="100000"/>
                  </a:path>
                  <a:tileRect r="0" l="-100000" b="0" t="-100000"/>
                </a:gradFill>
                <a:latin typeface="Canva Sans Bold"/>
                <a:ea typeface="Canva Sans Bold"/>
                <a:cs typeface="Canva Sans Bold"/>
                <a:sym typeface="Canva Sans Bold"/>
              </a:rPr>
              <a:t>Thank You!</a:t>
            </a:r>
          </a:p>
        </p:txBody>
      </p:sp>
      <p:sp>
        <p:nvSpPr>
          <p:cNvPr name="TextBox 11" id="11"/>
          <p:cNvSpPr txBox="true"/>
          <p:nvPr/>
        </p:nvSpPr>
        <p:spPr>
          <a:xfrm rot="0">
            <a:off x="1028700" y="2316167"/>
            <a:ext cx="6671890" cy="2180870"/>
          </a:xfrm>
          <a:prstGeom prst="rect">
            <a:avLst/>
          </a:prstGeom>
        </p:spPr>
        <p:txBody>
          <a:bodyPr anchor="t" rtlCol="false" tIns="0" lIns="0" bIns="0" rIns="0">
            <a:spAutoFit/>
          </a:bodyPr>
          <a:lstStyle/>
          <a:p>
            <a:pPr algn="just" marL="0" indent="0" lvl="0">
              <a:lnSpc>
                <a:spcPts val="8339"/>
              </a:lnSpc>
            </a:pPr>
            <a:r>
              <a:rPr lang="en-US" sz="8510"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Questions &amp;</a:t>
            </a:r>
          </a:p>
          <a:p>
            <a:pPr algn="just" marL="0" indent="0" lvl="0">
              <a:lnSpc>
                <a:spcPts val="8339"/>
              </a:lnSpc>
            </a:pPr>
            <a:r>
              <a:rPr lang="en-US" sz="8510"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Next Steps?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DAHPehAARk4</dc:identifier>
  <dcterms:modified xsi:type="dcterms:W3CDTF">2011-08-01T06:04:30Z</dcterms:modified>
  <cp:revision>1</cp:revision>
  <dc:title>Google Play Store Market Analysis: Executive Briefing</dc:title>
</cp:coreProperties>
</file>